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Pronóstico de Calidad del Aire — Valencia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 Pronóstico de Calidad del Aire — Valencia</a:t>
            </a:r>
          </a:p>
          <a:p>
            <a:pPr>
              <a:defRPr sz="1400"/>
            </a:pPr>
            <a:r>
              <a:t>## Análisis ASUM-DM | Series de Tiempo</a:t>
            </a:r>
          </a:p>
          <a:p>
            <a:pPr>
              <a:defRPr sz="1400"/>
            </a:pPr>
            <a:r>
              <a:t>**Dataset:** `air_quality_valencia` — Mediciones horarias de contaminantes atmosféricos (2019–2023)</a:t>
            </a:r>
          </a:p>
          <a:p>
            <a:pPr>
              <a:defRPr sz="1400"/>
            </a:pPr>
            <a:r>
              <a:t>**Variable objetivo:** PM2.5 (Material particulado fino, µg/m³)</a:t>
            </a:r>
          </a:p>
          <a:p>
            <a:pPr>
              <a:defRPr sz="1400"/>
            </a:pPr>
            <a:r>
              <a:t>**Metodología:** ASUM-DM (Analytics Solution Unified Method for Data Mining)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Pronóstico de Calidad del Aire — Valencia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✓ Librerías cargadas correctamente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Comprensión del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 1. Comprensión del Negocio</a:t>
            </a:r>
          </a:p>
          <a:p>
            <a:pPr>
              <a:defRPr sz="1400"/>
            </a:pPr>
            <a:r>
              <a:t>### 1.1 Contexto</a:t>
            </a:r>
          </a:p>
          <a:p>
            <a:pPr>
              <a:defRPr sz="1400"/>
            </a:pPr>
            <a:r>
              <a:t>La calidad del aire es uno de los factores más críticos para la salud pública en entornos urbanos. El **dióxido de nitrógeno (NO₂)** es un contaminante primario producido principalmente por la combustión de vehículos y la actividad industrial. Concentraciones elevadas de PM2.5 están asociadas con enfermedades respiratorias, cardiovasculares y mayor mortalidad prematura.</a:t>
            </a:r>
          </a:p>
          <a:p>
            <a:pPr>
              <a:defRPr sz="1400"/>
            </a:pPr>
            <a:r>
              <a:t>La **Red de Vigilancia y Control de la Contaminación Atmosférica de Valencia** monitoriza en tiempo real múltiples contaminantes en la estación de Av. França. La capacidad de pronosticar los niveles de PM2.5 horas antes permite:</a:t>
            </a:r>
          </a:p>
          <a:p>
            <a:pPr>
              <a:defRPr sz="1400"/>
            </a:pPr>
            <a:r>
              <a:t>- **Emitir alertas tempranas** a ciudadanos con condiciones vulnerables (asma, EPOC, cardiovasculares)</a:t>
            </a:r>
          </a:p>
          <a:p>
            <a:pPr>
              <a:defRPr sz="1400"/>
            </a:pPr>
            <a:r>
              <a:t>- **Apoyar decisiones de política pública** (restricciones de tráfico, alertas sanitarias)</a:t>
            </a:r>
          </a:p>
          <a:p>
            <a:pPr>
              <a:defRPr sz="1400"/>
            </a:pPr>
            <a:r>
              <a:t>- **Optimizar recursos de respuesta** de las autoridades ambientales</a:t>
            </a:r>
          </a:p>
          <a:p>
            <a:pPr>
              <a:defRPr sz="1400"/>
            </a:pPr>
            <a:r>
              <a:t>- **Cumplir regulaciones** de reporte ambiental a nivel europeo</a:t>
            </a:r>
          </a:p>
          <a:p>
            <a:pPr>
              <a:defRPr sz="1400"/>
            </a:pPr>
            <a:r>
              <a:t>### 1.2 Objetivo del Negocio</a:t>
            </a:r>
          </a:p>
          <a:p>
            <a:pPr>
              <a:defRPr sz="1400"/>
            </a:pPr>
            <a:r>
              <a:t>&gt; Construir un modelo de pronóstico de PM2.5 para las próximas **24 horas** que permita anticipar episodios de contaminación y dar soporte a la toma de decisiones en la gestión ambiental de la ciudad de Valencia.</a:t>
            </a:r>
          </a:p>
          <a:p>
            <a:pPr>
              <a:defRPr sz="1400"/>
            </a:pPr>
            <a:r>
              <a:t>### 1.3 Criterios de Éxito</a:t>
            </a:r>
          </a:p>
          <a:p>
            <a:pPr>
              <a:defRPr sz="1400"/>
            </a:pPr>
            <a:r>
              <a:t>| Criterio | Umbral |</a:t>
            </a:r>
          </a:p>
          <a:p>
            <a:pPr>
              <a:defRPr sz="1400"/>
            </a:pPr>
            <a:r>
              <a:t>|---|---|</a:t>
            </a:r>
          </a:p>
          <a:p>
            <a:pPr>
              <a:defRPr sz="1400"/>
            </a:pPr>
            <a:r>
              <a:t>| MAPE (Error Porcentual Absoluto Medio) | &lt; 15% |</a:t>
            </a:r>
          </a:p>
          <a:p>
            <a:pPr>
              <a:defRPr sz="1400"/>
            </a:pPr>
            <a:r>
              <a:t>| MAE (Error Absoluto Medio) | &lt; 10 µg/m³ |</a:t>
            </a:r>
          </a:p>
          <a:p>
            <a:pPr>
              <a:defRPr sz="1400"/>
            </a:pPr>
            <a:r>
              <a:t>| R² (Coeficiente de determinación) | &gt; 0.70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Enfoque Analítico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 2. Enfoque Analítico</a:t>
            </a:r>
          </a:p>
          <a:p>
            <a:pPr>
              <a:defRPr sz="1400"/>
            </a:pPr>
            <a:r>
              <a:t>### 2.1 Tipo de Problema</a:t>
            </a:r>
          </a:p>
          <a:p>
            <a:pPr>
              <a:defRPr sz="1400"/>
            </a:pPr>
            <a:r>
              <a:t>El problema corresponde a una **regresión sobre series de tiempo multivariada**:</a:t>
            </a:r>
          </a:p>
          <a:p>
            <a:pPr>
              <a:defRPr sz="1400"/>
            </a:pPr>
            <a:r>
              <a:t>- **Variable respuesta:** PM2.5 (variable continua, µg/m³)</a:t>
            </a:r>
          </a:p>
          <a:p>
            <a:pPr>
              <a:defRPr sz="1400"/>
            </a:pPr>
            <a:r>
              <a:t>- **Variables de entrada:** lags de PM2.5 + variables exógenas (PM10, O₃, PM2.5, SO₂, CO, NOx, viento)</a:t>
            </a:r>
          </a:p>
          <a:p>
            <a:pPr>
              <a:defRPr sz="1400"/>
            </a:pPr>
            <a:r>
              <a:t>- **Horizonte de pronóstico:** 24 pasos hacia adelante (24 horas)</a:t>
            </a:r>
          </a:p>
          <a:p>
            <a:pPr>
              <a:defRPr sz="1400"/>
            </a:pPr>
            <a:r>
              <a:t>### 2.2 Estrategias de Pronóstico a Evaluar</a:t>
            </a:r>
          </a:p>
          <a:p>
            <a:pPr>
              <a:defRPr sz="1400"/>
            </a:pPr>
            <a:r>
              <a:t>| Estrategia | Descripción | Pros | Contras |</a:t>
            </a:r>
          </a:p>
          <a:p>
            <a:pPr>
              <a:defRPr sz="1400"/>
            </a:pPr>
            <a:r>
              <a:t>|---|---|---|---|</a:t>
            </a:r>
          </a:p>
          <a:p>
            <a:pPr>
              <a:defRPr sz="1400"/>
            </a:pPr>
            <a:r>
              <a:t>| **Recursiva** | Un modelo usa su propia predicción como entrada para el siguiente paso | Simple, un solo modelo | Acumula error en horizonte largo |</a:t>
            </a:r>
          </a:p>
          <a:p>
            <a:pPr>
              <a:defRPr sz="1400"/>
            </a:pPr>
            <a:r>
              <a:t>| **Directa** | Un modelo independiente por cada paso de pronóstico | Sin acumulación de error | Mayor costo computacional (N modelos) |</a:t>
            </a:r>
          </a:p>
          <a:p>
            <a:pPr>
              <a:defRPr sz="1400"/>
            </a:pPr>
            <a:r>
              <a:t>### 2.3 Modelos a Evaluar</a:t>
            </a:r>
          </a:p>
          <a:p>
            <a:pPr>
              <a:defRPr sz="1400"/>
            </a:pPr>
            <a:r>
              <a:t>1. **Baseline** — Día equivalente (mismo intervalo horario del día anterior)</a:t>
            </a:r>
          </a:p>
          <a:p>
            <a:pPr>
              <a:defRPr sz="1400"/>
            </a:pPr>
            <a:r>
              <a:t>2. **Ridge Regression** — Regresión lineal con regularización L2 (recursiva)</a:t>
            </a:r>
          </a:p>
          <a:p>
            <a:pPr>
              <a:defRPr sz="1400"/>
            </a:pPr>
            <a:r>
              <a:t>3. **Random Forest** — Ensemble de árboles (recursiva)</a:t>
            </a:r>
          </a:p>
          <a:p>
            <a:pPr>
              <a:defRPr sz="1400"/>
            </a:pPr>
            <a:r>
              <a:t>4. **Gradient Boosting** — Boosting secuencial de árboles (recursiva)</a:t>
            </a:r>
          </a:p>
          <a:p>
            <a:pPr>
              <a:defRPr sz="1400"/>
            </a:pPr>
            <a:r>
              <a:t>5. **XGBoost** — Gradient boosting optimizado (recursiva)</a:t>
            </a:r>
          </a:p>
          <a:p>
            <a:pPr>
              <a:defRPr sz="1400"/>
            </a:pPr>
            <a:r>
              <a:t>6. **LightGBM** — Boosting eficiente leaf-wise (recursiva)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Requerimientos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 3. Requerimientos de Datos</a:t>
            </a:r>
          </a:p>
          <a:p>
            <a:pPr>
              <a:defRPr sz="1400"/>
            </a:pPr>
            <a:r>
              <a:t>### 3.1 Descripción del Dataset</a:t>
            </a:r>
          </a:p>
          <a:p>
            <a:pPr>
              <a:defRPr sz="1400"/>
            </a:pPr>
            <a:r>
              <a:t>El dataset `air_quality_valencia` proviene de la Red de Vigilancia de la Generalitat Valenciana, disponible públicamente a través de la librería `skforecast`.</a:t>
            </a:r>
          </a:p>
          <a:p>
            <a:pPr>
              <a:defRPr sz="1400"/>
            </a:pPr>
            <a:r>
              <a:t>| Variable | Descripción | Unidad |</a:t>
            </a:r>
          </a:p>
          <a:p>
            <a:pPr>
              <a:defRPr sz="1400"/>
            </a:pPr>
            <a:r>
              <a:t>|---|---|---|</a:t>
            </a:r>
          </a:p>
          <a:p>
            <a:pPr>
              <a:defRPr sz="1400"/>
            </a:pPr>
            <a:r>
              <a:t>| `pm2.5` | Material particulado fino ≤2.5 µm (**variable objetivo**) | µg/m³ |</a:t>
            </a:r>
          </a:p>
          <a:p>
            <a:pPr>
              <a:defRPr sz="1400"/>
            </a:pPr>
            <a:r>
              <a:t>| `no` | Monóxido de nitrógeno | µg/m³ |</a:t>
            </a:r>
          </a:p>
          <a:p>
            <a:pPr>
              <a:defRPr sz="1400"/>
            </a:pPr>
            <a:r>
              <a:t>| `nox` | Óxidos de nitrógeno totales | µg/m³ |</a:t>
            </a:r>
          </a:p>
          <a:p>
            <a:pPr>
              <a:defRPr sz="1400"/>
            </a:pPr>
            <a:r>
              <a:t>| `o3` | Ozono | µg/m³ |</a:t>
            </a:r>
          </a:p>
          <a:p>
            <a:pPr>
              <a:defRPr sz="1400"/>
            </a:pPr>
            <a:r>
              <a:t>| `pm10` | Material particulado ≤10 µm | µg/m³ |</a:t>
            </a:r>
          </a:p>
          <a:p>
            <a:pPr>
              <a:defRPr sz="1400"/>
            </a:pPr>
            <a:r>
              <a:t>| `pm2.5` | Material particulado fino ≤2.5 µm | µg/m³ |</a:t>
            </a:r>
          </a:p>
          <a:p>
            <a:pPr>
              <a:defRPr sz="1400"/>
            </a:pPr>
            <a:r>
              <a:t>| `so2` | Dióxido de azufre | µg/m³ |</a:t>
            </a:r>
          </a:p>
          <a:p>
            <a:pPr>
              <a:defRPr sz="1400"/>
            </a:pPr>
            <a:r>
              <a:t>| `co` | Monóxido de carbono | mg/m³ |</a:t>
            </a:r>
          </a:p>
          <a:p>
            <a:pPr>
              <a:defRPr sz="1400"/>
            </a:pPr>
            <a:r>
              <a:t>| `veloc.` | Velocidad del viento | m/s |</a:t>
            </a:r>
          </a:p>
          <a:p>
            <a:pPr>
              <a:defRPr sz="1400"/>
            </a:pPr>
            <a:r>
              <a:t>| `direc.` | Dirección del viento | grados |</a:t>
            </a:r>
          </a:p>
          <a:p>
            <a:pPr>
              <a:defRPr sz="1400"/>
            </a:pPr>
            <a:r>
              <a:t>**Período:** 2019-01-01 a 2023-12-31 | **Frecuencia:** Horaria | **Registros:** 43,824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Recolección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 4. Recolección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- 4. Recolección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╭────────────────────────────── air_quality_valencia ──────────────────────────────╮</a:t>
            </a:r>
          </a:p>
          <a:p>
            <a:pPr>
              <a:defRPr sz="1100"/>
            </a:pPr>
            <a:r>
              <a:t>│ Description:                                                                     │</a:t>
            </a:r>
          </a:p>
          <a:p>
            <a:pPr>
              <a:defRPr sz="1100"/>
            </a:pPr>
            <a:r>
              <a:t>│ Hourly measures of several air chemical pollutant at Valencia city (Avd.         │</a:t>
            </a:r>
          </a:p>
          <a:p>
            <a:pPr>
              <a:defRPr sz="1100"/>
            </a:pPr>
            <a:r>
              <a:t>│ Francia) from 2019-01-01 to 2023-12-31. Including the following variables: pm2.5 │</a:t>
            </a:r>
          </a:p>
          <a:p>
            <a:pPr>
              <a:defRPr sz="1100"/>
            </a:pPr>
            <a:r>
              <a:t>│ (µg/m³), CO (mg/m³), NO (µg/m³), NO2 (µg/m³), PM10 (µg/m³), NOx (µg/m³), O3      │</a:t>
            </a:r>
          </a:p>
          <a:p>
            <a:pPr>
              <a:defRPr sz="1100"/>
            </a:pPr>
            <a:r>
              <a:t>│ (µg/m³), Veloc. (m/s), Direc. (degrees), SO2 (µg/m³).                            │</a:t>
            </a:r>
          </a:p>
          <a:p>
            <a:pPr>
              <a:defRPr sz="1100"/>
            </a:pPr>
            <a:r>
              <a:t>│                                                                                  │</a:t>
            </a:r>
          </a:p>
          <a:p>
            <a:pPr>
              <a:defRPr sz="1100"/>
            </a:pPr>
            <a:r>
              <a:t>│ Source:                                                                          │</a:t>
            </a:r>
          </a:p>
          <a:p>
            <a:pPr>
              <a:defRPr sz="1100"/>
            </a:pPr>
            <a:r>
              <a:t>│ Red de Vigilancia y Control de la Contaminación Atmosférica, 46250047-València - │</a:t>
            </a:r>
          </a:p>
          <a:p>
            <a:pPr>
              <a:defRPr sz="1100"/>
            </a:pPr>
            <a:r>
              <a:t>│ Av. França, https://mediambient.gva.es/es/web/calidad-ambiental/datos-           │</a:t>
            </a:r>
          </a:p>
          <a:p>
            <a:pPr>
              <a:defRPr sz="1100"/>
            </a:pPr>
            <a:r>
              <a:t>│ historicos.                                                                      │</a:t>
            </a:r>
          </a:p>
          <a:p>
            <a:pPr>
              <a:defRPr sz="1100"/>
            </a:pPr>
            <a:r>
              <a:t>│                                                                                  │</a:t>
            </a:r>
          </a:p>
          <a:p>
            <a:pPr>
              <a:defRPr sz="1100"/>
            </a:pPr>
            <a:r>
              <a:t>│ URL:                                                                             │</a:t>
            </a:r>
          </a:p>
          <a:p>
            <a:pPr>
              <a:defRPr sz="1100"/>
            </a:pPr>
            <a:r>
              <a:t>│ https://raw.githubusercontent.com/skforecast/skforecast-                         │</a:t>
            </a:r>
          </a:p>
          <a:p>
            <a:pPr>
              <a:defRPr sz="1100"/>
            </a:pPr>
            <a:r>
              <a:t>│ datasets/main/data/air_quality_valencia.csv                                      │</a:t>
            </a:r>
          </a:p>
          <a:p>
            <a:pPr>
              <a:defRPr sz="1100"/>
            </a:pPr>
            <a:r>
              <a:t>│                                                                                  │</a:t>
            </a:r>
          </a:p>
          <a:p>
            <a:pPr>
              <a:defRPr sz="1100"/>
            </a:pPr>
            <a:r>
              <a:t>│ Shape: 43824 rows x 10 columns                                                   │</a:t>
            </a:r>
          </a:p>
          <a:p>
            <a:pPr>
              <a:defRPr sz="1100"/>
            </a:pPr>
            <a:r>
              <a:t>╰──────────────────────────────────────────────────────────────────────────────────╯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- 4. Recolección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Shape: (43824, 10)</a:t>
            </a:r>
          </a:p>
          <a:p>
            <a:pPr>
              <a:defRPr sz="1100"/>
            </a:pPr>
            <a:r>
              <a:t>Índice temporal: 2019-01-01 00:00:00 → 2023-12-31 23:00:00</a:t>
            </a:r>
          </a:p>
          <a:p>
            <a:pPr>
              <a:defRPr sz="1100"/>
            </a:pPr>
            <a:r>
              <a:t>Frecuencia: &lt;Hour&gt;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- 4. Recolección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so2     co      no     no2    pm10     nox      o3  \</a:t>
            </a:r>
          </a:p>
          <a:p>
            <a:pPr>
              <a:defRPr sz="1100"/>
            </a:pPr>
            <a:r>
              <a:t>datetime</a:t>
            </a:r>
          </a:p>
          <a:p>
            <a:pPr>
              <a:defRPr sz="1100"/>
            </a:pPr>
            <a:r>
              <a:t>2019-01-01 00:00:00  8.0000 0.2000  3.0000 36.0000 22.0000 40.0000 16.0000</a:t>
            </a:r>
          </a:p>
          <a:p>
            <a:pPr>
              <a:defRPr sz="1100"/>
            </a:pPr>
            <a:r>
              <a:t>2019-01-01 01:00:00  8.0000 0.1000  2.0000 40.0000 32.0000 44.0000  6.0000</a:t>
            </a:r>
          </a:p>
          <a:p>
            <a:pPr>
              <a:defRPr sz="1100"/>
            </a:pPr>
            <a:r>
              <a:t>2019-01-01 02:00:00  8.0000 0.1000 11.0000 42.0000 36.0000 58.0000  3.0000</a:t>
            </a:r>
          </a:p>
          <a:p>
            <a:pPr>
              <a:defRPr sz="1100"/>
            </a:pPr>
            <a:r>
              <a:t>2019-01-01 03:00:00 10.0000 0.1000 15.0000 41.0000 35.0000 63.0000  3.0000</a:t>
            </a:r>
          </a:p>
          <a:p>
            <a:pPr>
              <a:defRPr sz="1100"/>
            </a:pPr>
            <a:r>
              <a:t>2019-01-01 04:00:00 11.0000 0.1000 16.0000 39.0000 36.0000 63.0000  3.0000</a:t>
            </a:r>
          </a:p>
          <a:p>
            <a:pPr>
              <a:defRPr sz="1100"/>
            </a:pPr>
            <a:r>
              <a:t>2019-01-01 05:00:00 10.0000 0.1000 12.0000 40.0000 27.0000 57.0000  3.0000</a:t>
            </a:r>
          </a:p>
          <a:p>
            <a:pPr>
              <a:defRPr sz="1100"/>
            </a:pPr>
            <a:r>
              <a:t>2019-01-01 06:00:00 10.0000 0.1000  2.0000 35.0000 17.0000 37.0000  8.0000</a:t>
            </a:r>
          </a:p>
          <a:p>
            <a:pPr>
              <a:defRPr sz="1100"/>
            </a:pPr>
            <a:r>
              <a:t>2019-01-01 07:00:00 11.0000 0.1000  2.0000 36.0000 13.0000 40.0000 12.0000</a:t>
            </a:r>
          </a:p>
          <a:p>
            <a:pPr>
              <a:defRPr sz="1100"/>
            </a:pPr>
            <a:r>
              <a:t>2019-01-01 08:00:00  6.0000 0.1000  1.0000 35.0000 10.0000 36.0000 13.0000</a:t>
            </a:r>
          </a:p>
          <a:p>
            <a:pPr>
              <a:defRPr sz="1100"/>
            </a:pPr>
            <a:r>
              <a:t>2019-01-01 09:00:00  3.0000 0.1000  1.0000 33.0000  9.0000 33.0000 19.0000</a:t>
            </a:r>
          </a:p>
          <a:p>
            <a:pPr>
              <a:defRPr sz="1100"/>
            </a:pPr>
            <a:r>
              <a:t>veloc.   direc.   pm2.5</a:t>
            </a:r>
          </a:p>
          <a:p>
            <a:pPr>
              <a:defRPr sz="1100"/>
            </a:pPr>
            <a:r>
              <a:t>datetime</a:t>
            </a:r>
          </a:p>
          <a:p>
            <a:pPr>
              <a:defRPr sz="1100"/>
            </a:pPr>
            <a:r>
              <a:t>2019-01-01 00:00:00  0.5000 262.0000 19.0000</a:t>
            </a:r>
          </a:p>
          <a:p>
            <a:pPr>
              <a:defRPr sz="1100"/>
            </a:pPr>
            <a:r>
              <a:t>2019-01-01 01:00:00  0.6000 248.0000 26.0000</a:t>
            </a:r>
          </a:p>
          <a:p>
            <a:pPr>
              <a:defRPr sz="1100"/>
            </a:pPr>
            <a:r>
              <a:t>2019-01-01 02:00:00  0.3000 224.0000 31.0000</a:t>
            </a:r>
          </a:p>
          <a:p>
            <a:pPr>
              <a:defRPr sz="1100"/>
            </a:pPr>
            <a:r>
              <a:t>2019-01-01 03:00:00  0.2000 220.0000 30.0000</a:t>
            </a:r>
          </a:p>
          <a:p>
            <a:pPr>
              <a:defRPr sz="1100"/>
            </a:pPr>
            <a:r>
              <a:t>2019-01-01 04:00:00  0.4000 221.0000 30.0000</a:t>
            </a:r>
          </a:p>
          <a:p>
            <a:pPr>
              <a:defRPr sz="1100"/>
            </a:pPr>
            <a:r>
              <a:t>2019-01-01 05:00:00  0.6000 232.0000 24.0000</a:t>
            </a:r>
          </a:p>
          <a:p>
            <a:pPr>
              <a:defRPr sz="1100"/>
            </a:pPr>
            <a:r>
              <a:t>2019-01-01 06:00:00  0.3000 243.0000 14.0000</a:t>
            </a:r>
          </a:p>
          <a:p>
            <a:pPr>
              <a:defRPr sz="1100"/>
            </a:pPr>
            <a:r>
              <a:t>2019-01-01 07:00:00  0.3000 244.0000 11.0000</a:t>
            </a:r>
          </a:p>
          <a:p>
            <a:pPr>
              <a:defRPr sz="1100"/>
            </a:pPr>
            <a:r>
              <a:t>2019-01-01 08:00:00  0.3000 242.0000  9.0000</a:t>
            </a:r>
          </a:p>
          <a:p>
            <a:pPr>
              <a:defRPr sz="1100"/>
            </a:pPr>
            <a:r>
              <a:t>2019-01-01 09:00:00  0.3000 252.0000  7.0000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Entendimiento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 5. Entendimiento de Datos</a:t>
            </a:r>
          </a:p>
          <a:p>
            <a:pPr>
              <a:defRPr sz="1400"/>
            </a:pPr>
            <a:r>
              <a:t>### 5.1 Estructura y Estadísticos Descriptivos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- 5. Entendimiento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=== INFORMACIÓN GENERAL ===</a:t>
            </a:r>
          </a:p>
          <a:p>
            <a:pPr>
              <a:defRPr sz="1100"/>
            </a:pPr>
            <a:r>
              <a:t>&lt;class 'pandas.core.frame.DataFrame'&gt;</a:t>
            </a:r>
          </a:p>
          <a:p>
            <a:pPr>
              <a:defRPr sz="1100"/>
            </a:pPr>
            <a:r>
              <a:t>DatetimeIndex: 43824 entries, 2019-01-01 00:00:00 to 2023-12-31 23:00:00</a:t>
            </a:r>
          </a:p>
          <a:p>
            <a:pPr>
              <a:defRPr sz="1100"/>
            </a:pPr>
            <a:r>
              <a:t>Freq: h</a:t>
            </a:r>
          </a:p>
          <a:p>
            <a:pPr>
              <a:defRPr sz="1100"/>
            </a:pPr>
            <a:r>
              <a:t>Data columns (total 10 columns):</a:t>
            </a:r>
          </a:p>
          <a:p>
            <a:pPr>
              <a:defRPr sz="1100"/>
            </a:pPr>
            <a:r>
              <a:t>#   Column  Non-Null Count  Dtype</a:t>
            </a:r>
          </a:p>
          <a:p>
            <a:pPr>
              <a:defRPr sz="1100"/>
            </a:pPr>
            <a:r>
              <a:t>---  ------  --------------  -----</a:t>
            </a:r>
          </a:p>
          <a:p>
            <a:pPr>
              <a:defRPr sz="1100"/>
            </a:pPr>
            <a:r>
              <a:t>0   so2     41988 non-null  float64</a:t>
            </a:r>
          </a:p>
          <a:p>
            <a:pPr>
              <a:defRPr sz="1100"/>
            </a:pPr>
            <a:r>
              <a:t>1   co      40555 non-null  float64</a:t>
            </a:r>
          </a:p>
          <a:p>
            <a:pPr>
              <a:defRPr sz="1100"/>
            </a:pPr>
            <a:r>
              <a:t>2   no      43206 non-null  float64</a:t>
            </a:r>
          </a:p>
          <a:p>
            <a:pPr>
              <a:defRPr sz="1100"/>
            </a:pPr>
            <a:r>
              <a:t>3   no2     43206 non-null  float64</a:t>
            </a:r>
          </a:p>
          <a:p>
            <a:pPr>
              <a:defRPr sz="1100"/>
            </a:pPr>
            <a:r>
              <a:t>4   pm10    41832 non-null  float64</a:t>
            </a:r>
          </a:p>
          <a:p>
            <a:pPr>
              <a:defRPr sz="1100"/>
            </a:pPr>
            <a:r>
              <a:t>5   nox     43206 non-null  float64</a:t>
            </a:r>
          </a:p>
          <a:p>
            <a:pPr>
              <a:defRPr sz="1100"/>
            </a:pPr>
            <a:r>
              <a:t>6   o3      42614 non-null  float64</a:t>
            </a:r>
          </a:p>
          <a:p>
            <a:pPr>
              <a:defRPr sz="1100"/>
            </a:pPr>
            <a:r>
              <a:t>7   veloc.  42987 non-null  float64</a:t>
            </a:r>
          </a:p>
          <a:p>
            <a:pPr>
              <a:defRPr sz="1100"/>
            </a:pPr>
            <a:r>
              <a:t>8   direc.  43552 non-null  float64</a:t>
            </a:r>
          </a:p>
          <a:p>
            <a:pPr>
              <a:defRPr sz="1100"/>
            </a:pPr>
            <a:r>
              <a:t>9   pm2.5   41832 non-null  float64</a:t>
            </a:r>
          </a:p>
          <a:p>
            <a:pPr>
              <a:defRPr sz="1100"/>
            </a:pPr>
            <a:r>
              <a:t>dtypes: float64(10)</a:t>
            </a:r>
          </a:p>
          <a:p>
            <a:pPr>
              <a:defRPr sz="1100"/>
            </a:pPr>
            <a:r>
              <a:t>memory usage: 3.7 MB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- 5. Entendimiento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=== ESTADÍSTICOS DESCRIPTIVOS ===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- 5. Entendimiento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so2         co         no        no2       pm10        nox  \</a:t>
            </a:r>
          </a:p>
          <a:p>
            <a:pPr>
              <a:defRPr sz="1100"/>
            </a:pPr>
            <a:r>
              <a:t>count 41988.0000 40555.0000 43206.0000 43206.0000 41832.0000 43206.0000</a:t>
            </a:r>
          </a:p>
          <a:p>
            <a:pPr>
              <a:defRPr sz="1100"/>
            </a:pPr>
            <a:r>
              <a:t>mean      3.8200     0.1200     4.4200    15.6100    17.6600    22.2000</a:t>
            </a:r>
          </a:p>
          <a:p>
            <a:pPr>
              <a:defRPr sz="1100"/>
            </a:pPr>
            <a:r>
              <a:t>std       1.2200     0.0600    11.3200    14.9400    16.9600    28.6000</a:t>
            </a:r>
          </a:p>
          <a:p>
            <a:pPr>
              <a:defRPr sz="1100"/>
            </a:pPr>
            <a:r>
              <a:t>min       3.0000     0.1000     1.0000     1.0000     1.0000     2.0000</a:t>
            </a:r>
          </a:p>
          <a:p>
            <a:pPr>
              <a:defRPr sz="1100"/>
            </a:pPr>
            <a:r>
              <a:t>25%       3.0000     0.1000     2.0000     5.0000     7.0000     8.0000</a:t>
            </a:r>
          </a:p>
          <a:p>
            <a:pPr>
              <a:defRPr sz="1100"/>
            </a:pPr>
            <a:r>
              <a:t>50%       3.0000     0.1000     2.0000    11.0000    13.0000    14.0000</a:t>
            </a:r>
          </a:p>
          <a:p>
            <a:pPr>
              <a:defRPr sz="1100"/>
            </a:pPr>
            <a:r>
              <a:t>75%       4.0000     0.1000     2.0000    21.0000    23.0000    24.0000</a:t>
            </a:r>
          </a:p>
          <a:p>
            <a:pPr>
              <a:defRPr sz="1100"/>
            </a:pPr>
            <a:r>
              <a:t>max      21.0000     1.5000   325.0000   149.0000   382.0000   582.0000</a:t>
            </a:r>
          </a:p>
          <a:p>
            <a:pPr>
              <a:defRPr sz="1100"/>
            </a:pPr>
            <a:r>
              <a:t>o3     veloc.     direc.      pm2.5</a:t>
            </a:r>
          </a:p>
          <a:p>
            <a:pPr>
              <a:defRPr sz="1100"/>
            </a:pPr>
            <a:r>
              <a:t>count 42614.0000 42987.0000 43552.0000 41832.0000</a:t>
            </a:r>
          </a:p>
          <a:p>
            <a:pPr>
              <a:defRPr sz="1100"/>
            </a:pPr>
            <a:r>
              <a:t>mean     53.8600     1.6600   165.4000     9.2900</a:t>
            </a:r>
          </a:p>
          <a:p>
            <a:pPr>
              <a:defRPr sz="1100"/>
            </a:pPr>
            <a:r>
              <a:t>std      26.8800     1.7600   103.3200     8.4600</a:t>
            </a:r>
          </a:p>
          <a:p>
            <a:pPr>
              <a:defRPr sz="1100"/>
            </a:pPr>
            <a:r>
              <a:t>min       3.0000     0.1000     0.0000     1.0000</a:t>
            </a:r>
          </a:p>
          <a:p>
            <a:pPr>
              <a:defRPr sz="1100"/>
            </a:pPr>
            <a:r>
              <a:t>25%      35.0000     0.4000    71.0000     4.0000</a:t>
            </a:r>
          </a:p>
          <a:p>
            <a:pPr>
              <a:defRPr sz="1100"/>
            </a:pPr>
            <a:r>
              <a:t>50%      55.0000     1.0000   138.0000     7.0000</a:t>
            </a:r>
          </a:p>
          <a:p>
            <a:pPr>
              <a:defRPr sz="1100"/>
            </a:pPr>
            <a:r>
              <a:t>75%      73.0000     2.4000   249.0000    12.0000</a:t>
            </a:r>
          </a:p>
          <a:p>
            <a:pPr>
              <a:defRPr sz="1100"/>
            </a:pPr>
            <a:r>
              <a:t>max     149.0000    15.2000   360.0000   157.0000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Análisis de Valores Faltantes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5.2 Análisis de Valores Faltantes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- 5.2 Análisis de Valores Faltantes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Valores nulos por variable:</a:t>
            </a:r>
          </a:p>
          <a:p>
            <a:pPr>
              <a:defRPr sz="1100"/>
            </a:pPr>
            <a:r>
              <a:t>Nulos  % Nulos</a:t>
            </a:r>
          </a:p>
          <a:p>
            <a:pPr>
              <a:defRPr sz="1100"/>
            </a:pPr>
            <a:r>
              <a:t>co       3269   7.4600</a:t>
            </a:r>
          </a:p>
          <a:p>
            <a:pPr>
              <a:defRPr sz="1100"/>
            </a:pPr>
            <a:r>
              <a:t>pm10     1992   4.5500</a:t>
            </a:r>
          </a:p>
          <a:p>
            <a:pPr>
              <a:defRPr sz="1100"/>
            </a:pPr>
            <a:r>
              <a:t>pm2.5    1992   4.5500</a:t>
            </a:r>
          </a:p>
          <a:p>
            <a:pPr>
              <a:defRPr sz="1100"/>
            </a:pPr>
            <a:r>
              <a:t>so2      1836   4.1900</a:t>
            </a:r>
          </a:p>
          <a:p>
            <a:pPr>
              <a:defRPr sz="1100"/>
            </a:pPr>
            <a:r>
              <a:t>o3       1210   2.7600</a:t>
            </a:r>
          </a:p>
          <a:p>
            <a:pPr>
              <a:defRPr sz="1100"/>
            </a:pPr>
            <a:r>
              <a:t>veloc.    837   1.9100</a:t>
            </a:r>
          </a:p>
          <a:p>
            <a:pPr>
              <a:defRPr sz="1100"/>
            </a:pPr>
            <a:r>
              <a:t>no        618   1.4100</a:t>
            </a:r>
          </a:p>
          <a:p>
            <a:pPr>
              <a:defRPr sz="1100"/>
            </a:pPr>
            <a:r>
              <a:t>no2       618   1.4100</a:t>
            </a:r>
          </a:p>
          <a:p>
            <a:pPr>
              <a:defRPr sz="1100"/>
            </a:pPr>
            <a:r>
              <a:t>nox       618   1.4100</a:t>
            </a:r>
          </a:p>
          <a:p>
            <a:pPr>
              <a:defRPr sz="1100"/>
            </a:pPr>
            <a:r>
              <a:t>direc.    272   0.6200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- 5.2 Análisis de Valores Faltantes</a:t>
            </a:r>
          </a:p>
        </p:txBody>
      </p:sp>
      <p:pic>
        <p:nvPicPr>
          <p:cNvPr id="3" name="Picture 2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452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5.2.2 Nulos Implícitos — Horas Faltantes por Día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#### 5.2.2 Nulos Implícitos — Horas Faltantes por Día</a:t>
            </a:r>
          </a:p>
          <a:p>
            <a:pPr>
              <a:defRPr sz="1400"/>
            </a:pPr>
            <a:r>
              <a:t>Un **nulo implícito** ocurre cuando una fila existe en el dataset (la hora del día está registrada) pero su valor es `NaN`, mientras que **esa misma hora sí tiene datos en otros días**. Esto indica que el sensor falló puntualmente para esa hora concreta, pero el slot temporal existe.</a:t>
            </a:r>
          </a:p>
          <a:p>
            <a:pPr>
              <a:defRPr sz="1400"/>
            </a:pPr>
            <a:r>
              <a:t>Para detectarlos se pivota el dataset a una matriz **día × hora** y se identifican las celdas NaN en días donde otras horas sí tienen datos válidos.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- 5.2.2 Nulos Implícitos — Horas Faltantes por Día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=======================================================</a:t>
            </a:r>
          </a:p>
          <a:p>
            <a:pPr>
              <a:defRPr sz="1100"/>
            </a:pPr>
            <a:r>
              <a:t>ANÁLISIS DE NULOS IMPLÍCITOS (PM2.5)</a:t>
            </a:r>
          </a:p>
          <a:p>
            <a:pPr>
              <a:defRPr sz="1100"/>
            </a:pPr>
            <a:r>
              <a:t>=======================================================</a:t>
            </a:r>
          </a:p>
          <a:p>
            <a:pPr>
              <a:defRPr sz="1100"/>
            </a:pPr>
            <a:r>
              <a:t>Total días en serie           : 1,826</a:t>
            </a:r>
          </a:p>
          <a:p>
            <a:pPr>
              <a:defRPr sz="1100"/>
            </a:pPr>
            <a:r>
              <a:t>Días completamente limpios    : 1,634  (89.5%)</a:t>
            </a:r>
          </a:p>
          <a:p>
            <a:pPr>
              <a:defRPr sz="1100"/>
            </a:pPr>
            <a:r>
              <a:t>Días con nulos IMPLÍCITOS     : 129  (7.1%)</a:t>
            </a:r>
          </a:p>
          <a:p>
            <a:pPr>
              <a:defRPr sz="1100"/>
            </a:pPr>
            <a:r>
              <a:t>→ Horas nulas en esos días  : 480</a:t>
            </a:r>
          </a:p>
          <a:p>
            <a:pPr>
              <a:defRPr sz="1100"/>
            </a:pPr>
            <a:r>
              <a:t>Días completamente nulos      : 63  (3.5%)</a:t>
            </a:r>
          </a:p>
          <a:p>
            <a:pPr>
              <a:defRPr sz="1100"/>
            </a:pPr>
            <a:r>
              <a:t>=======================================================</a:t>
            </a:r>
          </a:p>
          <a:p>
            <a:pPr>
              <a:defRPr sz="1100"/>
            </a:pPr>
            <a:r>
              <a:t>Distribución de horas faltantes por día afectado:</a:t>
            </a:r>
          </a:p>
          <a:p>
            <a:pPr>
              <a:defRPr sz="1100"/>
            </a:pPr>
            <a:r>
              <a:t>1     68</a:t>
            </a:r>
          </a:p>
          <a:p>
            <a:pPr>
              <a:defRPr sz="1100"/>
            </a:pPr>
            <a:r>
              <a:t>2     25</a:t>
            </a:r>
          </a:p>
          <a:p>
            <a:pPr>
              <a:defRPr sz="1100"/>
            </a:pPr>
            <a:r>
              <a:t>3      9</a:t>
            </a:r>
          </a:p>
          <a:p>
            <a:pPr>
              <a:defRPr sz="1100"/>
            </a:pPr>
            <a:r>
              <a:t>4      1</a:t>
            </a:r>
          </a:p>
          <a:p>
            <a:pPr>
              <a:defRPr sz="1100"/>
            </a:pPr>
            <a:r>
              <a:t>5      2</a:t>
            </a:r>
          </a:p>
          <a:p>
            <a:pPr>
              <a:defRPr sz="1100"/>
            </a:pPr>
            <a:r>
              <a:t>6      2</a:t>
            </a:r>
          </a:p>
          <a:p>
            <a:pPr>
              <a:defRPr sz="1100"/>
            </a:pPr>
            <a:r>
              <a:t>7      1</a:t>
            </a:r>
          </a:p>
          <a:p>
            <a:pPr>
              <a:defRPr sz="1100"/>
            </a:pPr>
            <a:r>
              <a:t>8      2</a:t>
            </a:r>
          </a:p>
          <a:p>
            <a:pPr>
              <a:defRPr sz="1100"/>
            </a:pPr>
            <a:r>
              <a:t>9      2</a:t>
            </a:r>
          </a:p>
          <a:p>
            <a:pPr>
              <a:defRPr sz="1100"/>
            </a:pPr>
            <a:r>
              <a:t>10     5</a:t>
            </a:r>
          </a:p>
          <a:p>
            <a:pPr>
              <a:defRPr sz="1100"/>
            </a:pPr>
            <a:r>
              <a:t>11     1</a:t>
            </a:r>
          </a:p>
          <a:p>
            <a:pPr>
              <a:defRPr sz="1100"/>
            </a:pPr>
            <a:r>
              <a:t>12     1</a:t>
            </a:r>
          </a:p>
          <a:p>
            <a:pPr>
              <a:defRPr sz="1100"/>
            </a:pPr>
            <a:r>
              <a:t>13     1</a:t>
            </a:r>
          </a:p>
          <a:p>
            <a:pPr>
              <a:defRPr sz="1100"/>
            </a:pPr>
            <a:r>
              <a:t>15     1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- 5.2.2 Nulos Implícitos — Horas Faltantes por Día</a:t>
            </a:r>
          </a:p>
        </p:txBody>
      </p:sp>
      <p:pic>
        <p:nvPicPr>
          <p:cNvPr id="3" name="Picture 2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152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- 5.2.2 Nulos Implícitos — Horas Faltantes por Día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Hallazgo: Las horas matutinas (6-9h) concentran más nulos implícitos,</a:t>
            </a:r>
          </a:p>
          <a:p>
            <a:pPr>
              <a:defRPr sz="1100"/>
            </a:pPr>
            <a:r>
              <a:t>probablemente por mantenimiento del sensor en horario no crítico.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- 5.2.2 Nulos Implícitos — Horas Faltantes por Día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Nulos antes  : 13,262</a:t>
            </a:r>
          </a:p>
          <a:p>
            <a:pPr>
              <a:defRPr sz="1100"/>
            </a:pPr>
            <a:r>
              <a:t>Nulos después imputación intra-día: 7,968</a:t>
            </a:r>
          </a:p>
          <a:p>
            <a:pPr>
              <a:defRPr sz="1100"/>
            </a:pPr>
            <a:r>
              <a:t>→ Imputados (nulos implícitos): 5,294</a:t>
            </a:r>
          </a:p>
          <a:p>
            <a:pPr>
              <a:defRPr sz="1100"/>
            </a:pPr>
            <a:r>
              <a:t>Nulos después imputación completa: 0</a:t>
            </a:r>
          </a:p>
          <a:p>
            <a:pPr>
              <a:defRPr sz="1100"/>
            </a:pPr>
            <a:r>
              <a:t>✓ Dataset sin valores faltantes — listo para agregación semanal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**Hallazgos:**</a:t>
            </a:r>
          </a:p>
          <a:p>
            <a:pPr>
              <a:defRPr sz="1400"/>
            </a:pPr>
            <a:r>
              <a:t>- CO y PM10/PM2.5 presentan los mayores porcentajes de datos faltantes (~7.5% y ~4.5% respectivamente)</a:t>
            </a:r>
          </a:p>
          <a:p>
            <a:pPr>
              <a:defRPr sz="1400"/>
            </a:pPr>
            <a:r>
              <a:t>- Los valores faltantes corresponden principalmente a fallas de sensores, que ocurren en bloques (máximo ~6 horas consecutivas)</a:t>
            </a:r>
          </a:p>
          <a:p>
            <a:pPr>
              <a:defRPr sz="1400"/>
            </a:pPr>
            <a:r>
              <a:t>- Se aplicará interpolación lineal con límite de 6 horas, adecuada para datos con correlación temporal alta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 Serie Temporal de PM2.5 — Variable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5.3 Serie Temporal de PM2.5 — Variable Objetivo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- 5.3 Serie Temporal de PM2.5 — Variable Objetivo</a:t>
            </a:r>
          </a:p>
        </p:txBody>
      </p:sp>
      <p:pic>
        <p:nvPicPr>
          <p:cNvPr id="3" name="Picture 2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3106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- 5.3 Serie Temporal de PM2.5 — Variable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Media         : 9.29 µg/m³</a:t>
            </a:r>
          </a:p>
          <a:p>
            <a:pPr>
              <a:defRPr sz="1100"/>
            </a:pPr>
            <a:r>
              <a:t>Mediana       : 7.00 µg/m³</a:t>
            </a:r>
          </a:p>
          <a:p>
            <a:pPr>
              <a:defRPr sz="1100"/>
            </a:pPr>
            <a:r>
              <a:t>Desv. Est.    : 8.46 µg/m³</a:t>
            </a:r>
          </a:p>
          <a:p>
            <a:pPr>
              <a:defRPr sz="1100"/>
            </a:pPr>
            <a:r>
              <a:t>Mín / Máx     : 1.0 / 157.0 µg/m³</a:t>
            </a:r>
          </a:p>
          <a:p>
            <a:pPr>
              <a:defRPr sz="1100"/>
            </a:pPr>
            <a:r>
              <a:t>Límite OMS    : 25 µg/m³ (media semanal OMS)</a:t>
            </a:r>
          </a:p>
          <a:p>
            <a:pPr>
              <a:defRPr sz="1100"/>
            </a:pPr>
            <a:r>
              <a:t>% Supera OMS  : 5.4%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- 5.3 Serie Temporal de PM2.5 — Variable Objetivo</a:t>
            </a:r>
          </a:p>
        </p:txBody>
      </p:sp>
      <p:pic>
        <p:nvPicPr>
          <p:cNvPr id="3" name="Picture 2" descr="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6993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5.4 Estacionalidad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5.4 Estacionalidad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- 5.4 Estacionalidad</a:t>
            </a:r>
          </a:p>
        </p:txBody>
      </p:sp>
      <p:pic>
        <p:nvPicPr>
          <p:cNvPr id="3" name="Picture 2" descr="im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4524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- 5.4 Estacionalidad</a:t>
            </a:r>
          </a:p>
        </p:txBody>
      </p:sp>
      <p:pic>
        <p:nvPicPr>
          <p:cNvPr id="3" name="Picture 2" descr="im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6271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- 5.4 Estacionalidad</a:t>
            </a:r>
          </a:p>
        </p:txBody>
      </p:sp>
      <p:pic>
        <p:nvPicPr>
          <p:cNvPr id="3" name="Picture 2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4524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**Hallazgos de Estacionalidad:**</a:t>
            </a:r>
          </a:p>
          <a:p>
            <a:pPr>
              <a:defRPr sz="1400"/>
            </a:pPr>
            <a:r>
              <a:t>- **Estacionalidad semanal:** Picos marcados en horas punta (7-10h y 18-21h), correlacionados con el tráfico vehicular</a:t>
            </a:r>
          </a:p>
          <a:p>
            <a:pPr>
              <a:defRPr sz="1400"/>
            </a:pPr>
            <a:r>
              <a:t>- **Estacionalidad semanal:** Fin de semana presenta concentraciones ~20% menores por reducción del tráfico</a:t>
            </a:r>
          </a:p>
          <a:p>
            <a:pPr>
              <a:defRPr sz="1400"/>
            </a:pPr>
            <a:r>
              <a:t>- **Estacionalidad anual:** Invierno muestra valores más altos por mayor estabilidad atmosférica (inversión térmica)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5.5 Descomposición Estacional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5.5 Descomposición Estacional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- 5.5 Descomposición Estacional</a:t>
            </a:r>
          </a:p>
        </p:txBody>
      </p:sp>
      <p:pic>
        <p:nvPicPr>
          <p:cNvPr id="3" name="Picture 2" descr="im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89360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5.6 Test de Estacionariedad (Dickey-Fuller Aumentado)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5.6 Test de Estacionariedad (Dickey-Fuller Aumentado)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- 5.6 Test de Estacionariedad (Dickey-Fuller Aumentado)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=======================================================</a:t>
            </a:r>
          </a:p>
          <a:p>
            <a:pPr>
              <a:defRPr sz="1100"/>
            </a:pPr>
            <a:r>
              <a:t>Test de Dickey-Fuller Aumentado — PM2.5 original</a:t>
            </a:r>
          </a:p>
          <a:p>
            <a:pPr>
              <a:defRPr sz="1100"/>
            </a:pPr>
            <a:r>
              <a:t>=======================================================</a:t>
            </a:r>
          </a:p>
          <a:p>
            <a:pPr>
              <a:defRPr sz="1100"/>
            </a:pPr>
            <a:r>
              <a:t>Estadístico ADF : -14.3146</a:t>
            </a:r>
          </a:p>
          <a:p>
            <a:pPr>
              <a:defRPr sz="1100"/>
            </a:pPr>
            <a:r>
              <a:t>p-valor          : 0.000000</a:t>
            </a:r>
          </a:p>
          <a:p>
            <a:pPr>
              <a:defRPr sz="1100"/>
            </a:pPr>
            <a:r>
              <a:t>Valor Crítico 1%  : -3.4305</a:t>
            </a:r>
          </a:p>
          <a:p>
            <a:pPr>
              <a:defRPr sz="1100"/>
            </a:pPr>
            <a:r>
              <a:t>Valor Crítico 5%  : -2.8616</a:t>
            </a:r>
          </a:p>
          <a:p>
            <a:pPr>
              <a:defRPr sz="1100"/>
            </a:pPr>
            <a:r>
              <a:t>Valor Crítico 10%  : -2.5668</a:t>
            </a:r>
          </a:p>
          <a:p>
            <a:pPr>
              <a:defRPr sz="1100"/>
            </a:pPr>
            <a:r>
              <a:t>Resultado: ✓ ESTACIONARIA (α = 0.05)</a:t>
            </a:r>
          </a:p>
          <a:p>
            <a:pPr>
              <a:defRPr sz="1100"/>
            </a:pPr>
            <a:r>
              <a:t>=======================================================</a:t>
            </a:r>
          </a:p>
          <a:p>
            <a:pPr>
              <a:defRPr sz="1100"/>
            </a:pPr>
            <a:r>
              <a:t>=======================================================</a:t>
            </a:r>
          </a:p>
          <a:p>
            <a:pPr>
              <a:defRPr sz="1100"/>
            </a:pPr>
            <a:r>
              <a:t>Test de Dickey-Fuller Aumentado — PM2.5 diferenciada (d=1)</a:t>
            </a:r>
          </a:p>
          <a:p>
            <a:pPr>
              <a:defRPr sz="1100"/>
            </a:pPr>
            <a:r>
              <a:t>=======================================================</a:t>
            </a:r>
          </a:p>
          <a:p>
            <a:pPr>
              <a:defRPr sz="1100"/>
            </a:pPr>
            <a:r>
              <a:t>Estadístico ADF : -33.6819</a:t>
            </a:r>
          </a:p>
          <a:p>
            <a:pPr>
              <a:defRPr sz="1100"/>
            </a:pPr>
            <a:r>
              <a:t>p-valor          : 0.000000</a:t>
            </a:r>
          </a:p>
          <a:p>
            <a:pPr>
              <a:defRPr sz="1100"/>
            </a:pPr>
            <a:r>
              <a:t>Valor Crítico 1%  : -3.4305</a:t>
            </a:r>
          </a:p>
          <a:p>
            <a:pPr>
              <a:defRPr sz="1100"/>
            </a:pPr>
            <a:r>
              <a:t>Valor Crítico 5%  : -2.8616</a:t>
            </a:r>
          </a:p>
          <a:p>
            <a:pPr>
              <a:defRPr sz="1100"/>
            </a:pPr>
            <a:r>
              <a:t>Valor Crítico 10%  : -2.5668</a:t>
            </a:r>
          </a:p>
          <a:p>
            <a:pPr>
              <a:defRPr sz="1100"/>
            </a:pPr>
            <a:r>
              <a:t>Resultado: ✓ ESTACIONARIA (α = 0.05)</a:t>
            </a:r>
          </a:p>
          <a:p>
            <a:pPr>
              <a:defRPr sz="1100"/>
            </a:pPr>
            <a:r>
              <a:t>=======================================================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**Interpretación ADF:**</a:t>
            </a:r>
          </a:p>
          <a:p>
            <a:pPr>
              <a:defRPr sz="1400"/>
            </a:pPr>
            <a:r>
              <a:t>- **H₀:** La serie tiene raíz unitaria (no estacionaria)</a:t>
            </a:r>
          </a:p>
          <a:p>
            <a:pPr>
              <a:defRPr sz="1400"/>
            </a:pPr>
            <a:r>
              <a:t>- Si **p-valor &lt; 0.05** → rechazamos H₀ → la serie es estacionaria</a:t>
            </a:r>
          </a:p>
          <a:p>
            <a:pPr>
              <a:defRPr sz="1400"/>
            </a:pPr>
            <a:r>
              <a:t>- Los modelos de ML con skforecast trabajan directamente sobre la serie original usando lags como features, por lo que no se requiere diferenciación manual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5.7 ACF y PACF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5.7 ACF y PACF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- 5.7 ACF y PACF</a:t>
            </a:r>
          </a:p>
        </p:txBody>
      </p:sp>
      <p:pic>
        <p:nvPicPr>
          <p:cNvPr id="3" name="Picture 2" descr="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31068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**Interpretación:**</a:t>
            </a:r>
          </a:p>
          <a:p>
            <a:pPr>
              <a:defRPr sz="1400"/>
            </a:pPr>
            <a:r>
              <a:t>- **ACF:** Muestra autocorrelación significativa hasta lag 72 (3 días). Se observan picos periódicos cada 24 lags → estacionalidad semanal</a:t>
            </a:r>
          </a:p>
          <a:p>
            <a:pPr>
              <a:defRPr sz="1400"/>
            </a:pPr>
            <a:r>
              <a:t>- **PACF:** Los primeros lags muestran correlación directa fuerte. Los picos en lag 24 y 48 confirman el patrón semanal</a:t>
            </a:r>
          </a:p>
          <a:p>
            <a:pPr>
              <a:defRPr sz="1400"/>
            </a:pPr>
            <a:r>
              <a:t>- **Conclusión:** Se usarán **48 lags** (2 días de historia) para capturar la dinámica horaria y semanal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5.8 Matriz de Correlación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5.8 Matriz de Correlación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- 5.8 Matriz de Correlación</a:t>
            </a:r>
          </a:p>
        </p:txBody>
      </p:sp>
      <p:pic>
        <p:nvPicPr>
          <p:cNvPr id="3" name="Picture 2" descr="im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733689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**Hallazgos:**</a:t>
            </a:r>
          </a:p>
          <a:p>
            <a:pPr>
              <a:defRPr sz="1400"/>
            </a:pPr>
            <a:r>
              <a:t>- PM2.5 y PM10 tienen correlación alta (mismas fuentes de emisión)</a:t>
            </a:r>
          </a:p>
          <a:p>
            <a:pPr>
              <a:defRPr sz="1400"/>
            </a:pPr>
            <a:r>
              <a:t>- O₃ tiene correlación moderada con PM2.5 (formación secundaria de partículas en presencia de radiación UV)</a:t>
            </a:r>
          </a:p>
          <a:p>
            <a:pPr>
              <a:defRPr sz="1400"/>
            </a:pPr>
            <a:r>
              <a:t>- NO2, CO y SO2 muestran correlación moderada con PM2.5 (fuentes de combustión comunes)</a:t>
            </a:r>
          </a:p>
          <a:p>
            <a:pPr>
              <a:defRPr sz="1400"/>
            </a:pPr>
            <a:r>
              <a:t>- La correlación entre PM2.5, PM10 y CO sugiere usar regularización en modelos lineales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5.9 Evolución Anual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5.9 Evolución Anual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- 5.9 Evolución Anual</a:t>
            </a:r>
          </a:p>
        </p:txBody>
      </p:sp>
      <p:pic>
        <p:nvPicPr>
          <p:cNvPr id="3" name="Picture 2" descr="im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317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- 5.9 Evolución Anual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Nota: La caída en 2020 (semanas 10-20) corresponde al confinamiento por COVID-19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Preparación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 6. Preparación de Datos</a:t>
            </a:r>
          </a:p>
          <a:p>
            <a:pPr>
              <a:defRPr sz="1400"/>
            </a:pPr>
            <a:r>
              <a:t>### 6.1 Tratamiento de Valores Faltantes</a:t>
            </a:r>
          </a:p>
          <a:p>
            <a:pPr>
              <a:defRPr sz="1400"/>
            </a:pPr>
            <a:r>
              <a:t>Se emplea **interpolación lineal** con límite de 6 horas consecutivas. Para valores faltantes en los extremos se aplica forward-fill/backward-fill.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- 6. Preparación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Verificación de data_imputed:</a:t>
            </a:r>
          </a:p>
          <a:p>
            <a:pPr>
              <a:defRPr sz="1100"/>
            </a:pPr>
            <a:r>
              <a:t>Shape        : (43824, 10)</a:t>
            </a:r>
          </a:p>
          <a:p>
            <a:pPr>
              <a:defRPr sz="1100"/>
            </a:pPr>
            <a:r>
              <a:t>Nulos totales: 0</a:t>
            </a:r>
          </a:p>
          <a:p>
            <a:pPr>
              <a:defRPr sz="1100"/>
            </a:pPr>
            <a:r>
              <a:t>Período      : 2019-01-01 00:00:00 → 2023-12-31 23:00:00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- 6. Preparación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so2       0</a:t>
            </a:r>
          </a:p>
          <a:p>
            <a:pPr>
              <a:defRPr sz="1100"/>
            </a:pPr>
            <a:r>
              <a:t>co        0</a:t>
            </a:r>
          </a:p>
          <a:p>
            <a:pPr>
              <a:defRPr sz="1100"/>
            </a:pPr>
            <a:r>
              <a:t>no        0</a:t>
            </a:r>
          </a:p>
          <a:p>
            <a:pPr>
              <a:defRPr sz="1100"/>
            </a:pPr>
            <a:r>
              <a:t>no2       0</a:t>
            </a:r>
          </a:p>
          <a:p>
            <a:pPr>
              <a:defRPr sz="1100"/>
            </a:pPr>
            <a:r>
              <a:t>pm10      0</a:t>
            </a:r>
          </a:p>
          <a:p>
            <a:pPr>
              <a:defRPr sz="1100"/>
            </a:pPr>
            <a:r>
              <a:t>nox       0</a:t>
            </a:r>
          </a:p>
          <a:p>
            <a:pPr>
              <a:defRPr sz="1100"/>
            </a:pPr>
            <a:r>
              <a:t>o3        0</a:t>
            </a:r>
          </a:p>
          <a:p>
            <a:pPr>
              <a:defRPr sz="1100"/>
            </a:pPr>
            <a:r>
              <a:t>veloc.    0</a:t>
            </a:r>
          </a:p>
          <a:p>
            <a:pPr>
              <a:defRPr sz="1100"/>
            </a:pPr>
            <a:r>
              <a:t>direc.    0</a:t>
            </a:r>
          </a:p>
          <a:p>
            <a:pPr>
              <a:defRPr sz="1100"/>
            </a:pPr>
            <a:r>
              <a:t>pm2.5     0</a:t>
            </a:r>
          </a:p>
          <a:p>
            <a:pPr>
              <a:defRPr sz="1100"/>
            </a:pPr>
            <a:r>
              <a:t>dtype: int64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Agregación Semanal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6.2 Agregación Semanal</a:t>
            </a:r>
          </a:p>
          <a:p>
            <a:pPr>
              <a:defRPr sz="1400"/>
            </a:pPr>
            <a:r>
              <a:t>Se agrupan los datos de frecuencia horaria (43,824 obs) a **frecuencia semanal** calculando la **media semanal** de cada variable.</a:t>
            </a:r>
          </a:p>
          <a:p>
            <a:pPr>
              <a:defRPr sz="1400"/>
            </a:pPr>
            <a:r>
              <a:t>&gt; **¿Por qué media y no suma?** PM2.5 es una concentración (µg/m³). Sumar concentraciones horarias cambia las unidades a µg·h/m³, que no tiene interpretación física. La **media semanal** es el estándar utilizado por la OMS y los sistemas de monitoreo ambiental (p.ej., el índice AQI).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- 6.2 Agregación Semanal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Datos horarios (imputados) : 43,824 observaciones (frecuencia 1h)</a:t>
            </a:r>
          </a:p>
          <a:p>
            <a:pPr>
              <a:defRPr sz="1100"/>
            </a:pPr>
            <a:r>
              <a:t>Datos semanales (media semanal)  : 261 observaciones (frecuencia 1W)</a:t>
            </a:r>
          </a:p>
          <a:p>
            <a:pPr>
              <a:defRPr sz="1100"/>
            </a:pPr>
            <a:r>
              <a:t>Estadísticos PM2.5 — HORARIO (imputado):</a:t>
            </a:r>
          </a:p>
          <a:p>
            <a:pPr>
              <a:defRPr sz="1100"/>
            </a:pPr>
            <a:r>
              <a:t>count   43824.0000</a:t>
            </a:r>
          </a:p>
          <a:p>
            <a:pPr>
              <a:defRPr sz="1100"/>
            </a:pPr>
            <a:r>
              <a:t>mean        9.3100</a:t>
            </a:r>
          </a:p>
          <a:p>
            <a:pPr>
              <a:defRPr sz="1100"/>
            </a:pPr>
            <a:r>
              <a:t>std         8.3600</a:t>
            </a:r>
          </a:p>
          <a:p>
            <a:pPr>
              <a:defRPr sz="1100"/>
            </a:pPr>
            <a:r>
              <a:t>min         1.0000</a:t>
            </a:r>
          </a:p>
          <a:p>
            <a:pPr>
              <a:defRPr sz="1100"/>
            </a:pPr>
            <a:r>
              <a:t>25%         4.0000</a:t>
            </a:r>
          </a:p>
          <a:p>
            <a:pPr>
              <a:defRPr sz="1100"/>
            </a:pPr>
            <a:r>
              <a:t>50%         7.0000</a:t>
            </a:r>
          </a:p>
          <a:p>
            <a:pPr>
              <a:defRPr sz="1100"/>
            </a:pPr>
            <a:r>
              <a:t>75%        12.0000</a:t>
            </a:r>
          </a:p>
          <a:p>
            <a:pPr>
              <a:defRPr sz="1100"/>
            </a:pPr>
            <a:r>
              <a:t>max       157.0000</a:t>
            </a:r>
          </a:p>
          <a:p>
            <a:pPr>
              <a:defRPr sz="1100"/>
            </a:pPr>
            <a:r>
              <a:t>Estadísticos PM2.5 — SEMANAL (media semanal):</a:t>
            </a:r>
          </a:p>
          <a:p>
            <a:pPr>
              <a:defRPr sz="1100"/>
            </a:pPr>
            <a:r>
              <a:t>count   261.0000</a:t>
            </a:r>
          </a:p>
          <a:p>
            <a:pPr>
              <a:defRPr sz="1100"/>
            </a:pPr>
            <a:r>
              <a:t>mean      9.3100</a:t>
            </a:r>
          </a:p>
          <a:p>
            <a:pPr>
              <a:defRPr sz="1100"/>
            </a:pPr>
            <a:r>
              <a:t>std       5.5700</a:t>
            </a:r>
          </a:p>
          <a:p>
            <a:pPr>
              <a:defRPr sz="1100"/>
            </a:pPr>
            <a:r>
              <a:t>min       1.6800</a:t>
            </a:r>
          </a:p>
          <a:p>
            <a:pPr>
              <a:defRPr sz="1100"/>
            </a:pPr>
            <a:r>
              <a:t>25%       5.2500</a:t>
            </a:r>
          </a:p>
          <a:p>
            <a:pPr>
              <a:defRPr sz="1100"/>
            </a:pPr>
            <a:r>
              <a:t>50%       8.0700</a:t>
            </a:r>
          </a:p>
          <a:p>
            <a:pPr>
              <a:defRPr sz="1100"/>
            </a:pPr>
            <a:r>
              <a:t>75%      11.7300</a:t>
            </a:r>
          </a:p>
          <a:p>
            <a:pPr>
              <a:defRPr sz="1100"/>
            </a:pPr>
            <a:r>
              <a:t>max      31.2600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- 6.2 Agregación Semanal</a:t>
            </a:r>
          </a:p>
        </p:txBody>
      </p:sp>
      <p:pic>
        <p:nvPicPr>
          <p:cNvPr id="3" name="Picture 2" descr="im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25403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- 6.2 Agregación Semanal</a:t>
            </a:r>
          </a:p>
        </p:txBody>
      </p:sp>
      <p:pic>
        <p:nvPicPr>
          <p:cNvPr id="3" name="Picture 2" descr="im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74089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- 6.2 Agregación Semanal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Reducción de ruido: std horaria=8.36 → std semanal=5.57 µg/m³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División Temporal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6.2 División Temporal</a:t>
            </a:r>
          </a:p>
          <a:p>
            <a:pPr>
              <a:defRPr sz="1400"/>
            </a:pPr>
            <a:r>
              <a:t>Se respeta el orden cronológico para evitar data leakage:</a:t>
            </a:r>
          </a:p>
          <a:p>
            <a:pPr>
              <a:defRPr sz="1400"/>
            </a:pPr>
            <a:r>
              <a:t>- **Entrenamiento:** 2019-01-01 → ~2023-04 (85%)</a:t>
            </a:r>
          </a:p>
          <a:p>
            <a:pPr>
              <a:defRPr sz="1400"/>
            </a:pPr>
            <a:r>
              <a:t>- **Test:** ~2023-04 → 2023-12-31 (15%, ~6,574 obs)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- 6.2 División Temporal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Train: 2019-01-06 00:00:00 → 2023-03-26 00:00:00  (221 obs)</a:t>
            </a:r>
          </a:p>
          <a:p>
            <a:pPr>
              <a:defRPr sz="1100"/>
            </a:pPr>
            <a:r>
              <a:t>Test : 2023-04-02 00:00:00 → 2023-12-31 00:00:00  (40 obs)</a:t>
            </a:r>
          </a:p>
          <a:p>
            <a:pPr>
              <a:defRPr sz="1100"/>
            </a:pPr>
            <a:r>
              <a:t>Split: 85% / 15%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- 6.2 División Temporal</a:t>
            </a:r>
          </a:p>
        </p:txBody>
      </p:sp>
      <p:pic>
        <p:nvPicPr>
          <p:cNvPr id="3" name="Picture 2" descr="im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310687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6.3 Ingeniería de Features Temporales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6.3 Ingeniería de Features Temporales</a:t>
            </a:r>
          </a:p>
          <a:p>
            <a:pPr>
              <a:defRPr sz="1400"/>
            </a:pPr>
            <a:r>
              <a:t>Se añaden variables calendario con **codificación cíclica** (seno/coseno) para capturar la periodicidad sin discontinuidades artificiales en los bordes del ciclo.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- 6.3 Ingeniería de Features Temporales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Features de entrenamiento: (221, 16)</a:t>
            </a:r>
          </a:p>
          <a:p>
            <a:pPr>
              <a:defRPr sz="1100"/>
            </a:pPr>
            <a:r>
              <a:t>Columnas: ['so2', 'co', 'no', 'no2', 'pm10', 'nox', 'o3', 'veloc.', 'direc.', 'is_weekend', 'dow_sin', 'dow_cos', 'month_sin', 'month_cos', 'doy_sin', 'doy_cos']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Construcción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 7. Construcción del Modelo</a:t>
            </a:r>
          </a:p>
          <a:p>
            <a:pPr>
              <a:defRPr sz="1400"/>
            </a:pPr>
            <a:r>
              <a:t>### 7.1 Parámetros Globales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 Construcción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Frecuencia: Semanal | Lags: 14 días | Horizonte: 7 días</a:t>
            </a:r>
          </a:p>
          <a:p>
            <a:pPr>
              <a:defRPr sz="1100"/>
            </a:pPr>
            <a:r>
              <a:t>Train: 221 obs | Test: 40 obs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7.2 Baseline — ForecasterEquivalentDate (Día Equivalente)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### 7.2 Baseline — ForecasterEquivalentDate (Día Equivalente)</a:t>
            </a:r>
          </a:p>
          <a:p>
            <a:pPr>
              <a:defRPr sz="1400"/>
            </a:pPr>
            <a:r>
              <a:t>**Explicación Teórica:** El baseline predice usando el promedio de los valores observados en el mismo intervalo horario de los 2 días anteriores. Captura el patrón semanal sin ningún aprendizaje estadístico complejo. Establece el piso de rendimiento que cualquier modelo más sofisticado debe superar.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- 7.2 Baseline — ForecasterEquivalentDate (Día Equivalente)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0%|          | 0/6 [00:00&lt;?, ?it/s]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- 7.2 Baseline — ForecasterEquivalentDate (Día Equivalente)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Tiempo: 0.05s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Baseline (Semana Equivalente)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MAE    : 3.0883</a:t>
            </a:r>
          </a:p>
          <a:p>
            <a:pPr>
              <a:defRPr sz="1100"/>
            </a:pPr>
            <a:r>
              <a:t>RMSE   : 3.9963</a:t>
            </a:r>
          </a:p>
          <a:p>
            <a:pPr>
              <a:defRPr sz="1100"/>
            </a:pPr>
            <a:r>
              <a:t>MAPE   : 46.39%</a:t>
            </a:r>
          </a:p>
          <a:p>
            <a:pPr>
              <a:defRPr sz="1100"/>
            </a:pPr>
            <a:r>
              <a:t>R²     : -0.1346</a:t>
            </a:r>
          </a:p>
          <a:p>
            <a:pPr>
              <a:defRPr sz="1100"/>
            </a:pPr>
            <a:r>
              <a:t>==================================================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- 7.2 Baseline — ForecasterEquivalentDate (Día Equivalente)</a:t>
            </a:r>
          </a:p>
        </p:txBody>
      </p:sp>
      <p:pic>
        <p:nvPicPr>
          <p:cNvPr id="3" name="Picture 2" descr="im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108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7.3 Ridge Regression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### 7.3 Ridge Regression — Estrategia Recursiva</a:t>
            </a:r>
          </a:p>
          <a:p>
            <a:pPr>
              <a:defRPr sz="1400"/>
            </a:pPr>
            <a:r>
              <a:t>**Explicación Teórica:** La regresión Ridge aplica regularización L2 para penalizar coeficientes grandes, mejorando la estabilidad cuando existen variables altamente correlacionadas (como NO₂, NO y NOx).</a:t>
            </a:r>
          </a:p>
          <a:p>
            <a:pPr>
              <a:defRPr sz="1400"/>
            </a:pPr>
            <a:r>
              <a:t>En la **estrategia recursiva**, se entrena **un único modelo** que predice un paso hacia adelante. Para predecir H pasos, la predicción anterior se usa como input del siguiente, generando una cascada de predicciones secuenciales.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- 7.3 Ridge Regression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0%|          | 0/6 [00:00&lt;?, ?it/s]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- 7.3 Ridge Regression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Tiempo: 0.02s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Ridge Recursivo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-- INTRAMUESTRAL (TRAIN) --</a:t>
            </a:r>
          </a:p>
          <a:p>
            <a:pPr>
              <a:defRPr sz="1100"/>
            </a:pPr>
            <a:r>
              <a:t>MAE    : 9.1304</a:t>
            </a:r>
          </a:p>
          <a:p>
            <a:pPr>
              <a:defRPr sz="1100"/>
            </a:pPr>
            <a:r>
              <a:t>RMSE   : 10.1949</a:t>
            </a:r>
          </a:p>
          <a:p>
            <a:pPr>
              <a:defRPr sz="1100"/>
            </a:pPr>
            <a:r>
              <a:t>MAPE   : 107.83%</a:t>
            </a:r>
          </a:p>
          <a:p>
            <a:pPr>
              <a:defRPr sz="1100"/>
            </a:pPr>
            <a:r>
              <a:t>R²     : -2.8072</a:t>
            </a:r>
          </a:p>
          <a:p>
            <a:pPr>
              <a:defRPr sz="1100"/>
            </a:pPr>
            <a:r>
              <a:t>-- EXTRAMUESTRAL (TEST) --</a:t>
            </a:r>
          </a:p>
          <a:p>
            <a:pPr>
              <a:defRPr sz="1100"/>
            </a:pPr>
            <a:r>
              <a:t>MAE    : 1.5364</a:t>
            </a:r>
          </a:p>
          <a:p>
            <a:pPr>
              <a:defRPr sz="1100"/>
            </a:pPr>
            <a:r>
              <a:t>RMSE   : 2.0975</a:t>
            </a:r>
          </a:p>
          <a:p>
            <a:pPr>
              <a:defRPr sz="1100"/>
            </a:pPr>
            <a:r>
              <a:t>MAPE   : 20.99%</a:t>
            </a:r>
          </a:p>
          <a:p>
            <a:pPr>
              <a:defRPr sz="1100"/>
            </a:pPr>
            <a:r>
              <a:t>R²     : 0.6875</a:t>
            </a:r>
          </a:p>
          <a:p>
            <a:pPr>
              <a:defRPr sz="1100"/>
            </a:pPr>
            <a:r>
              <a:t>==================================================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- 7.3 Ridge Regression — Estrategia Recursiva</a:t>
            </a:r>
          </a:p>
        </p:txBody>
      </p:sp>
      <p:pic>
        <p:nvPicPr>
          <p:cNvPr id="3" name="Picture 2" descr="im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108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7.4 Random Forest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### 7.4 Random Forest — Estrategia Recursiva</a:t>
            </a:r>
          </a:p>
          <a:p>
            <a:pPr>
              <a:defRPr sz="1400"/>
            </a:pPr>
            <a:r>
              <a:t>**Explicación Teórica:** Random Forest es un ensemble de árboles de decisión entrenados en subconjuntos aleatorios de datos y features (*bagging*). Captura relaciones no lineales entre lags y contaminantes, y es robusto frente a outliers. Cada árbol vota independientemente y se promedia el resultado.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- 7.4 Random Forest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0%|          | 0/6 [00:00&lt;?, ?it/s]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- 7.4 Random Forest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Tiempo: 1.49s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Random Forest Recursivo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-- INTRAMUESTRAL (TRAIN) --</a:t>
            </a:r>
          </a:p>
          <a:p>
            <a:pPr>
              <a:defRPr sz="1100"/>
            </a:pPr>
            <a:r>
              <a:t>MAE    : 9.1305</a:t>
            </a:r>
          </a:p>
          <a:p>
            <a:pPr>
              <a:defRPr sz="1100"/>
            </a:pPr>
            <a:r>
              <a:t>RMSE   : 10.1410</a:t>
            </a:r>
          </a:p>
          <a:p>
            <a:pPr>
              <a:defRPr sz="1100"/>
            </a:pPr>
            <a:r>
              <a:t>MAPE   : 108.26%</a:t>
            </a:r>
          </a:p>
          <a:p>
            <a:pPr>
              <a:defRPr sz="1100"/>
            </a:pPr>
            <a:r>
              <a:t>R²     : -2.7670</a:t>
            </a:r>
          </a:p>
          <a:p>
            <a:pPr>
              <a:defRPr sz="1100"/>
            </a:pPr>
            <a:r>
              <a:t>-- EXTRAMUESTRAL (TEST) --</a:t>
            </a:r>
          </a:p>
          <a:p>
            <a:pPr>
              <a:defRPr sz="1100"/>
            </a:pPr>
            <a:r>
              <a:t>MAE    : 2.2308</a:t>
            </a:r>
          </a:p>
          <a:p>
            <a:pPr>
              <a:defRPr sz="1100"/>
            </a:pPr>
            <a:r>
              <a:t>RMSE   : 3.2759</a:t>
            </a:r>
          </a:p>
          <a:p>
            <a:pPr>
              <a:defRPr sz="1100"/>
            </a:pPr>
            <a:r>
              <a:t>MAPE   : 32.00%</a:t>
            </a:r>
          </a:p>
          <a:p>
            <a:pPr>
              <a:defRPr sz="1100"/>
            </a:pPr>
            <a:r>
              <a:t>R²     : 0.2376</a:t>
            </a:r>
          </a:p>
          <a:p>
            <a:pPr>
              <a:defRPr sz="1100"/>
            </a:pPr>
            <a:r>
              <a:t>==================================================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- 7.4 Random Forest — Estrategia Recursiva</a:t>
            </a:r>
          </a:p>
        </p:txBody>
      </p:sp>
      <p:pic>
        <p:nvPicPr>
          <p:cNvPr id="3" name="Picture 2" descr="img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108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7.5 Gradient Boosting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### 7.5 Gradient Boosting — Estrategia Recursiva</a:t>
            </a:r>
          </a:p>
          <a:p>
            <a:pPr>
              <a:defRPr sz="1400"/>
            </a:pPr>
            <a:r>
              <a:t>**Explicación Teórica:** El Gradient Boosting construye árboles de forma **secuencial**, donde cada árbol corrige los errores residuales del conjunto anterior. Minimiza una función de pérdida usando gradiente descendente en el espacio funcional. Genera modelos altamente precisos pero más sensibles a hiperparámetros.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- 7.5 Gradient Boosting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0%|          | 0/6 [00:00&lt;?, ?it/s]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- 7.5 Gradient Boosting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Tiempo: 1.29s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Gradient Boosting Recursivo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-- INTRAMUESTRAL (TRAIN) --</a:t>
            </a:r>
          </a:p>
          <a:p>
            <a:pPr>
              <a:defRPr sz="1100"/>
            </a:pPr>
            <a:r>
              <a:t>MAE    : 9.1304</a:t>
            </a:r>
          </a:p>
          <a:p>
            <a:pPr>
              <a:defRPr sz="1100"/>
            </a:pPr>
            <a:r>
              <a:t>RMSE   : 10.1022</a:t>
            </a:r>
          </a:p>
          <a:p>
            <a:pPr>
              <a:defRPr sz="1100"/>
            </a:pPr>
            <a:r>
              <a:t>MAPE   : 108.88%</a:t>
            </a:r>
          </a:p>
          <a:p>
            <a:pPr>
              <a:defRPr sz="1100"/>
            </a:pPr>
            <a:r>
              <a:t>R²     : -2.7382</a:t>
            </a:r>
          </a:p>
          <a:p>
            <a:pPr>
              <a:defRPr sz="1100"/>
            </a:pPr>
            <a:r>
              <a:t>-- EXTRAMUESTRAL (TEST) --</a:t>
            </a:r>
          </a:p>
          <a:p>
            <a:pPr>
              <a:defRPr sz="1100"/>
            </a:pPr>
            <a:r>
              <a:t>MAE    : 2.3973</a:t>
            </a:r>
          </a:p>
          <a:p>
            <a:pPr>
              <a:defRPr sz="1100"/>
            </a:pPr>
            <a:r>
              <a:t>RMSE   : 3.4439</a:t>
            </a:r>
          </a:p>
          <a:p>
            <a:pPr>
              <a:defRPr sz="1100"/>
            </a:pPr>
            <a:r>
              <a:t>MAPE   : 34.41%</a:t>
            </a:r>
          </a:p>
          <a:p>
            <a:pPr>
              <a:defRPr sz="1100"/>
            </a:pPr>
            <a:r>
              <a:t>R²     : 0.1574</a:t>
            </a:r>
          </a:p>
          <a:p>
            <a:pPr>
              <a:defRPr sz="1100"/>
            </a:pPr>
            <a:r>
              <a:t>==================================================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- 7.5 Gradient Boosting — Estrategia Recursiva</a:t>
            </a:r>
          </a:p>
        </p:txBody>
      </p:sp>
      <p:pic>
        <p:nvPicPr>
          <p:cNvPr id="3" name="Picture 2" descr="img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108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7.6 XGBoost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### 7.6 XGBoost — Estrategia Recursiva</a:t>
            </a:r>
          </a:p>
          <a:p>
            <a:pPr>
              <a:defRPr sz="1400"/>
            </a:pPr>
            <a:r>
              <a:t>**Explicación Teórica:** XGBoost (*Extreme Gradient Boosting*) es una implementación optimizada del gradient boosting con regularización incorporada (L1/L2), manejo eficiente de valores nulos, y soporte paralelo. Incluye *column subsampling* y *row subsampling* para reducir sobreajuste.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- 7.6 XGBoost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0%|          | 0/6 [00:00&lt;?, ?it/s]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- 7.6 XGBoost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Tiempo: 0.85s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XGBoost Recursivo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-- INTRAMUESTRAL (TRAIN) --</a:t>
            </a:r>
          </a:p>
          <a:p>
            <a:pPr>
              <a:defRPr sz="1100"/>
            </a:pPr>
            <a:r>
              <a:t>MAE    : 9.1304</a:t>
            </a:r>
          </a:p>
          <a:p>
            <a:pPr>
              <a:defRPr sz="1100"/>
            </a:pPr>
            <a:r>
              <a:t>RMSE   : 10.1014</a:t>
            </a:r>
          </a:p>
          <a:p>
            <a:pPr>
              <a:defRPr sz="1100"/>
            </a:pPr>
            <a:r>
              <a:t>MAPE   : 108.90%</a:t>
            </a:r>
          </a:p>
          <a:p>
            <a:pPr>
              <a:defRPr sz="1100"/>
            </a:pPr>
            <a:r>
              <a:t>R²     : -2.7376</a:t>
            </a:r>
          </a:p>
          <a:p>
            <a:pPr>
              <a:defRPr sz="1100"/>
            </a:pPr>
            <a:r>
              <a:t>-- EXTRAMUESTRAL (TEST) --</a:t>
            </a:r>
          </a:p>
          <a:p>
            <a:pPr>
              <a:defRPr sz="1100"/>
            </a:pPr>
            <a:r>
              <a:t>MAE    : 1.9848</a:t>
            </a:r>
          </a:p>
          <a:p>
            <a:pPr>
              <a:defRPr sz="1100"/>
            </a:pPr>
            <a:r>
              <a:t>RMSE   : 2.6980</a:t>
            </a:r>
          </a:p>
          <a:p>
            <a:pPr>
              <a:defRPr sz="1100"/>
            </a:pPr>
            <a:r>
              <a:t>MAPE   : 30.19%</a:t>
            </a:r>
          </a:p>
          <a:p>
            <a:pPr>
              <a:defRPr sz="1100"/>
            </a:pPr>
            <a:r>
              <a:t>R²     : 0.4829</a:t>
            </a:r>
          </a:p>
          <a:p>
            <a:pPr>
              <a:defRPr sz="1100"/>
            </a:pPr>
            <a:r>
              <a:t>==================================================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- 7.6 XGBoost — Estrategia Recursiva</a:t>
            </a:r>
          </a:p>
        </p:txBody>
      </p:sp>
      <p:pic>
        <p:nvPicPr>
          <p:cNvPr id="3" name="Picture 2" descr="img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108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7.7 LightGBM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### 7.7 LightGBM — Estrategia Recursiva</a:t>
            </a:r>
          </a:p>
          <a:p>
            <a:pPr>
              <a:defRPr sz="1400"/>
            </a:pPr>
            <a:r>
              <a:t>**Explicación Teórica:** LightGBM utiliza *leaf-wise tree growth* (crece la hoja con mayor ganancia en lugar de nivel a nivel), lo que lo hace significativamente más rápido y eficiente en memoria para datasets grandes. Ideal para datos con alta frecuencia como los horarios. Incluye soporte nativo para variables categóricas y regularización avanzada.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- 7.7 LightGBM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0%|          | 0/6 [00:00&lt;?, ?it/s]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- 7.7 LightGBM — Estrategia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Tiempo: 0.48s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LightGBM Recursivo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-- INTRAMUESTRAL (TRAIN) --</a:t>
            </a:r>
          </a:p>
          <a:p>
            <a:pPr>
              <a:defRPr sz="1100"/>
            </a:pPr>
            <a:r>
              <a:t>MAE    : 9.1304</a:t>
            </a:r>
          </a:p>
          <a:p>
            <a:pPr>
              <a:defRPr sz="1100"/>
            </a:pPr>
            <a:r>
              <a:t>RMSE   : 10.1183</a:t>
            </a:r>
          </a:p>
          <a:p>
            <a:pPr>
              <a:defRPr sz="1100"/>
            </a:pPr>
            <a:r>
              <a:t>MAPE   : 108.73%</a:t>
            </a:r>
          </a:p>
          <a:p>
            <a:pPr>
              <a:defRPr sz="1100"/>
            </a:pPr>
            <a:r>
              <a:t>R²     : -2.7502</a:t>
            </a:r>
          </a:p>
          <a:p>
            <a:pPr>
              <a:defRPr sz="1100"/>
            </a:pPr>
            <a:r>
              <a:t>-- EXTRAMUESTRAL (TEST) --</a:t>
            </a:r>
          </a:p>
          <a:p>
            <a:pPr>
              <a:defRPr sz="1100"/>
            </a:pPr>
            <a:r>
              <a:t>MAE    : 2.2124</a:t>
            </a:r>
          </a:p>
          <a:p>
            <a:pPr>
              <a:defRPr sz="1100"/>
            </a:pPr>
            <a:r>
              <a:t>RMSE   : 2.8915</a:t>
            </a:r>
          </a:p>
          <a:p>
            <a:pPr>
              <a:defRPr sz="1100"/>
            </a:pPr>
            <a:r>
              <a:t>MAPE   : 31.23%</a:t>
            </a:r>
          </a:p>
          <a:p>
            <a:pPr>
              <a:defRPr sz="1100"/>
            </a:pPr>
            <a:r>
              <a:t>R²     : 0.4060</a:t>
            </a:r>
          </a:p>
          <a:p>
            <a:pPr>
              <a:defRPr sz="1100"/>
            </a:pPr>
            <a:r>
              <a:t>==================================================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- 7.7 LightGBM — Estrategia Recursiva</a:t>
            </a:r>
          </a:p>
        </p:txBody>
      </p:sp>
      <p:pic>
        <p:nvPicPr>
          <p:cNvPr id="3" name="Picture 2" descr="img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1082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7.8 Random Forest — Estrategia Directa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### 7.8 Random Forest — Estrategia Directa</a:t>
            </a:r>
          </a:p>
          <a:p>
            <a:pPr>
              <a:defRPr sz="1400"/>
            </a:pPr>
            <a:r>
              <a:t>**Explicación Teórica:** En la **estrategia directa**, se entrena un **modelo independiente para cada paso de pronóstico** (24 modelos para horizonte = 24). Cada modelo predice directamente el valor de su paso específico sin depender de predicciones anteriores, eliminando el error acumulado de la estrategia recursiva, a costa de mayor tiempo de entrenamiento.</a:t>
            </a:r>
          </a:p>
          <a:p>
            <a:pPr>
              <a:defRPr sz="1400"/>
            </a:pPr>
            <a:r>
              <a:t>Esta estrategia es especialmente útil cuando el horizonte de pronóstico es largo y el error de propagación de la estrategia recursiva se vuelve significativo.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- 7.8 Random Forest — Estrategia Directa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0%|          | 0/6 [00:00&lt;?, ?it/s]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- 7.8 Random Forest — Estrategia Directa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Tiempo: 0.41s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Random Forest Directo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MAE    : 2.1890</a:t>
            </a:r>
          </a:p>
          <a:p>
            <a:pPr>
              <a:defRPr sz="1100"/>
            </a:pPr>
            <a:r>
              <a:t>RMSE   : 3.0853</a:t>
            </a:r>
          </a:p>
          <a:p>
            <a:pPr>
              <a:defRPr sz="1100"/>
            </a:pPr>
            <a:r>
              <a:t>MAPE   : 32.27%</a:t>
            </a:r>
          </a:p>
          <a:p>
            <a:pPr>
              <a:defRPr sz="1100"/>
            </a:pPr>
            <a:r>
              <a:t>R²     : 0.3237</a:t>
            </a:r>
          </a:p>
          <a:p>
            <a:pPr>
              <a:defRPr sz="1100"/>
            </a:pPr>
            <a:r>
              <a:t>==================================================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- 7.8 Random Forest — Estrategia Directa</a:t>
            </a:r>
          </a:p>
        </p:txBody>
      </p:sp>
      <p:pic>
        <p:nvPicPr>
          <p:cNvPr id="3" name="Picture 2" descr="img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1082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7.9 Prophet — Modelo de Series de Tiempo Bayesiano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### 7.9 Prophet — Modelo de Series de Tiempo Bayesiano</a:t>
            </a:r>
          </a:p>
          <a:p>
            <a:pPr>
              <a:defRPr sz="1400"/>
            </a:pPr>
            <a:r>
              <a:t>**Explicación Teórica:** Prophet (Facebook/Meta, 2017) es un modelo aditivo de series de tiempo:</a:t>
            </a:r>
          </a:p>
          <a:p>
            <a:pPr>
              <a:defRPr sz="1400"/>
            </a:pPr>
            <a:r>
              <a:t>```</a:t>
            </a:r>
          </a:p>
          <a:p>
            <a:pPr>
              <a:defRPr sz="1400"/>
            </a:pPr>
            <a:r>
              <a:t>y(t) = trend(t) + seasonality(t) + holidays(t) + ε(t)</a:t>
            </a:r>
          </a:p>
          <a:p>
            <a:pPr>
              <a:defRPr sz="1400"/>
            </a:pPr>
            <a:r>
              <a:t>```</a:t>
            </a:r>
          </a:p>
          <a:p>
            <a:pPr>
              <a:defRPr sz="1400"/>
            </a:pPr>
            <a:r>
              <a:t>- **Tendencia:** Modelo logístico o lineal con detección automática de *changepoints* (puntos de cambio en la tendencia)</a:t>
            </a:r>
          </a:p>
          <a:p>
            <a:pPr>
              <a:defRPr sz="1400"/>
            </a:pPr>
            <a:r>
              <a:t>- **Estacionalidad:** Series de Fourier para patrones semanales y anuales</a:t>
            </a:r>
          </a:p>
          <a:p>
            <a:pPr>
              <a:defRPr sz="1400"/>
            </a:pPr>
            <a:r>
              <a:t>- **Regresores adicionales:** Permite incorporar variables exógenas linealmente</a:t>
            </a:r>
          </a:p>
          <a:p>
            <a:pPr>
              <a:defRPr sz="1400"/>
            </a:pPr>
            <a:r>
              <a:t>A diferencia de los modelos de ML con lags, Prophet **modela la estructura temporal directamente** sin requerir features de ingeniería manual. Destaca por su robustez ante datos faltantes y cambios de régimen (como el COVID-19 de 2020).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- 7.9 Prophet — Modelo de Series de Tiempo Bayesiano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Importing plotly failed. Interactive plots will not work.</a:t>
            </a:r>
          </a:p>
          <a:p>
            <a:pPr>
              <a:defRPr sz="1100"/>
            </a:pPr>
            <a:r>
              <a:t>17:02:12 - cmdstanpy - INFO - Chain [1] start processing</a:t>
            </a:r>
          </a:p>
          <a:p>
            <a:pPr>
              <a:defRPr sz="1100"/>
            </a:pPr>
            <a:r>
              <a:t>17:02:12 - cmdstanpy - INFO - Chain [1] done processing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- 7.9 Prophet — Modelo de Series de Tiempo Bayesiano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Tiempo Prophet: 0.08s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Prophet</a:t>
            </a:r>
          </a:p>
          <a:p>
            <a:pPr>
              <a:defRPr sz="1100"/>
            </a:pPr>
            <a:r>
              <a:t>==================================================</a:t>
            </a:r>
          </a:p>
          <a:p>
            <a:pPr>
              <a:defRPr sz="1100"/>
            </a:pPr>
            <a:r>
              <a:t>MAE    : 5.3721</a:t>
            </a:r>
          </a:p>
          <a:p>
            <a:pPr>
              <a:defRPr sz="1100"/>
            </a:pPr>
            <a:r>
              <a:t>RMSE   : 6.5078</a:t>
            </a:r>
          </a:p>
          <a:p>
            <a:pPr>
              <a:defRPr sz="1100"/>
            </a:pPr>
            <a:r>
              <a:t>MAPE   : 106.37%</a:t>
            </a:r>
          </a:p>
          <a:p>
            <a:pPr>
              <a:defRPr sz="1100"/>
            </a:pPr>
            <a:r>
              <a:t>R²     : -2.0087</a:t>
            </a:r>
          </a:p>
          <a:p>
            <a:pPr>
              <a:defRPr sz="1100"/>
            </a:pPr>
            <a:r>
              <a:t>==================================================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- 7.9 Prophet — Modelo de Series de Tiempo Bayesiano</a:t>
            </a:r>
          </a:p>
        </p:txBody>
      </p:sp>
      <p:pic>
        <p:nvPicPr>
          <p:cNvPr id="3" name="Picture 2" descr="img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108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- 7.9 Prophet — Modelo de Series de Tiempo Bayesiano</a:t>
            </a:r>
          </a:p>
        </p:txBody>
      </p:sp>
      <p:pic>
        <p:nvPicPr>
          <p:cNvPr id="3" name="Picture 2" descr="img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1253284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Evaluación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 8. Evaluación del Modelo</a:t>
            </a:r>
          </a:p>
          <a:p>
            <a:pPr>
              <a:defRPr sz="1400"/>
            </a:pPr>
            <a:r>
              <a:t>### 8.1 Tabla Comparativa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- 8. Evaluación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=================================================================</a:t>
            </a:r>
          </a:p>
          <a:p>
            <a:pPr>
              <a:defRPr sz="1100"/>
            </a:pPr>
            <a:r>
              <a:t>TABLA COMPARATIVA DE MODELOS</a:t>
            </a:r>
          </a:p>
          <a:p>
            <a:pPr>
              <a:defRPr sz="1100"/>
            </a:pPr>
            <a:r>
              <a:t>=================================================================</a:t>
            </a:r>
          </a:p>
          <a:p>
            <a:pPr>
              <a:defRPr sz="1100"/>
            </a:pPr>
            <a:r>
              <a:t>Modelo    MAE   RMSE  MAPE (%)      R²  MAE (Train)  RMSE (Train)  MAPE (%) (Train)  R² (Train)</a:t>
            </a:r>
          </a:p>
          <a:p>
            <a:pPr>
              <a:defRPr sz="1100"/>
            </a:pPr>
            <a:r>
              <a:t>1                Ridge Recursivo 1.5364 2.0975   20.9936  0.6875       9.1304       10.1949          107.8305     -2.8072</a:t>
            </a:r>
          </a:p>
          <a:p>
            <a:pPr>
              <a:defRPr sz="1100"/>
            </a:pPr>
            <a:r>
              <a:t>2              XGBoost Recursivo 1.9848 2.6980   30.1863  0.4829       9.1304       10.1014          108.9006     -2.7376</a:t>
            </a:r>
          </a:p>
          <a:p>
            <a:pPr>
              <a:defRPr sz="1100"/>
            </a:pPr>
            <a:r>
              <a:t>3             LightGBM Recursivo 2.2124 2.8915   31.2272  0.4060       9.1304       10.1183          108.7271     -2.7502</a:t>
            </a:r>
          </a:p>
          <a:p>
            <a:pPr>
              <a:defRPr sz="1100"/>
            </a:pPr>
            <a:r>
              <a:t>4        Random Forest Recursivo 2.2308 3.2759   32.0014  0.2376       9.1305       10.1410          108.2628     -2.7670</a:t>
            </a:r>
          </a:p>
          <a:p>
            <a:pPr>
              <a:defRPr sz="1100"/>
            </a:pPr>
            <a:r>
              <a:t>5          Random Forest Directo 2.1890 3.0853   32.2688  0.3237          NaN           NaN               NaN         NaN</a:t>
            </a:r>
          </a:p>
          <a:p>
            <a:pPr>
              <a:defRPr sz="1100"/>
            </a:pPr>
            <a:r>
              <a:t>6    Gradient Boosting Recursivo 2.3973 3.4439   34.4113  0.1574       9.1304       10.1022          108.8834     -2.7382</a:t>
            </a:r>
          </a:p>
          <a:p>
            <a:pPr>
              <a:defRPr sz="1100"/>
            </a:pPr>
            <a:r>
              <a:t>7  Baseline (Semana Equivalente) 3.0883 3.9963   46.3926 -0.1346          NaN           NaN               NaN         NaN</a:t>
            </a:r>
          </a:p>
          <a:p>
            <a:pPr>
              <a:defRPr sz="1100"/>
            </a:pPr>
            <a:r>
              <a:t>8                        Prophet 5.3721 6.5078  106.3652 -2.0087          NaN           NaN               NaN         NaN</a:t>
            </a:r>
          </a:p>
          <a:p>
            <a:pPr>
              <a:defRPr sz="1100"/>
            </a:pPr>
            <a:r>
              <a:t>=================================================================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- 8. Evaluación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Modelo    MAE   RMSE  MAPE (%)      R²  MAE (Train)  \</a:t>
            </a:r>
          </a:p>
          <a:p>
            <a:pPr>
              <a:defRPr sz="1100"/>
            </a:pPr>
            <a:r>
              <a:t>1                Ridge Recursivo 1.5364 2.0975   20.9936  0.6875       9.1304</a:t>
            </a:r>
          </a:p>
          <a:p>
            <a:pPr>
              <a:defRPr sz="1100"/>
            </a:pPr>
            <a:r>
              <a:t>2              XGBoost Recursivo 1.9848 2.6980   30.1863  0.4829       9.1304</a:t>
            </a:r>
          </a:p>
          <a:p>
            <a:pPr>
              <a:defRPr sz="1100"/>
            </a:pPr>
            <a:r>
              <a:t>3             LightGBM Recursivo 2.2124 2.8915   31.2272  0.4060       9.1304</a:t>
            </a:r>
          </a:p>
          <a:p>
            <a:pPr>
              <a:defRPr sz="1100"/>
            </a:pPr>
            <a:r>
              <a:t>4        Random Forest Recursivo 2.2308 3.2759   32.0014  0.2376       9.1305</a:t>
            </a:r>
          </a:p>
          <a:p>
            <a:pPr>
              <a:defRPr sz="1100"/>
            </a:pPr>
            <a:r>
              <a:t>5          Random Forest Directo 2.1890 3.0853   32.2688  0.3237          NaN</a:t>
            </a:r>
          </a:p>
          <a:p>
            <a:pPr>
              <a:defRPr sz="1100"/>
            </a:pPr>
            <a:r>
              <a:t>6    Gradient Boosting Recursivo 2.3973 3.4439   34.4113  0.1574       9.1304</a:t>
            </a:r>
          </a:p>
          <a:p>
            <a:pPr>
              <a:defRPr sz="1100"/>
            </a:pPr>
            <a:r>
              <a:t>7  Baseline (Semana Equivalente) 3.0883 3.9963   46.3926 -0.1346          NaN</a:t>
            </a:r>
          </a:p>
          <a:p>
            <a:pPr>
              <a:defRPr sz="1100"/>
            </a:pPr>
            <a:r>
              <a:t>8                        Prophet 5.3721 6.5078  106.3652 -2.0087          NaN</a:t>
            </a:r>
          </a:p>
          <a:p>
            <a:pPr>
              <a:defRPr sz="1100"/>
            </a:pPr>
            <a:r>
              <a:t>RMSE (Train)  MAPE (%) (Train)  R² (Train)</a:t>
            </a:r>
          </a:p>
          <a:p>
            <a:pPr>
              <a:defRPr sz="1100"/>
            </a:pPr>
            <a:r>
              <a:t>1       10.1949          107.8305     -2.8072</a:t>
            </a:r>
          </a:p>
          <a:p>
            <a:pPr>
              <a:defRPr sz="1100"/>
            </a:pPr>
            <a:r>
              <a:t>2       10.1014          108.9006     -2.7376</a:t>
            </a:r>
          </a:p>
          <a:p>
            <a:pPr>
              <a:defRPr sz="1100"/>
            </a:pPr>
            <a:r>
              <a:t>3       10.1183          108.7271     -2.7502</a:t>
            </a:r>
          </a:p>
          <a:p>
            <a:pPr>
              <a:defRPr sz="1100"/>
            </a:pPr>
            <a:r>
              <a:t>4       10.1410          108.2628     -2.7670</a:t>
            </a:r>
          </a:p>
          <a:p>
            <a:pPr>
              <a:defRPr sz="1100"/>
            </a:pPr>
            <a:r>
              <a:t>5           NaN               NaN         NaN</a:t>
            </a:r>
          </a:p>
          <a:p>
            <a:pPr>
              <a:defRPr sz="1100"/>
            </a:pPr>
            <a:r>
              <a:t>6       10.1022          108.8834     -2.7382</a:t>
            </a:r>
          </a:p>
          <a:p>
            <a:pPr>
              <a:defRPr sz="1100"/>
            </a:pPr>
            <a:r>
              <a:t>7           NaN               NaN         NaN</a:t>
            </a:r>
          </a:p>
          <a:p>
            <a:pPr>
              <a:defRPr sz="1100"/>
            </a:pPr>
            <a:r>
              <a:t>8           NaN               NaN         NaN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- 8. Evaluación del Modelo</a:t>
            </a:r>
          </a:p>
        </p:txBody>
      </p:sp>
      <p:pic>
        <p:nvPicPr>
          <p:cNvPr id="3" name="Picture 2" descr="img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662214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8.2 Verificación de Criterios de Éxito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8.2 Verificación de Criterios de Éxito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- 8.2 Verificación de Criterios de Éxito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============================================================</a:t>
            </a:r>
          </a:p>
          <a:p>
            <a:pPr>
              <a:defRPr sz="1100"/>
            </a:pPr>
            <a:r>
              <a:t>MEJOR MODELO: Ridge Recursivo</a:t>
            </a:r>
          </a:p>
          <a:p>
            <a:pPr>
              <a:defRPr sz="1100"/>
            </a:pPr>
            <a:r>
              <a:t>============================================================</a:t>
            </a:r>
          </a:p>
          <a:p>
            <a:pPr>
              <a:defRPr sz="1100"/>
            </a:pPr>
            <a:r>
              <a:t>Métrica        Umbral    Obtenido     Estado</a:t>
            </a:r>
          </a:p>
          <a:p>
            <a:pPr>
              <a:defRPr sz="1100"/>
            </a:pPr>
            <a:r>
              <a:t>───────────────────────────────────────────────────────</a:t>
            </a:r>
          </a:p>
          <a:p>
            <a:pPr>
              <a:defRPr sz="1100"/>
            </a:pPr>
            <a:r>
              <a:t>MAPE &lt; 15%   :  15%      20.99%      ⚠  (inflado por valores cercanos a 0)</a:t>
            </a:r>
          </a:p>
          <a:p>
            <a:pPr>
              <a:defRPr sz="1100"/>
            </a:pPr>
            <a:r>
              <a:t>SMAPE ≈ &lt;30% :  30%      17.35%      ✓ CUMPLE (más robusto p/ PM2.5)</a:t>
            </a:r>
          </a:p>
          <a:p>
            <a:pPr>
              <a:defRPr sz="1100"/>
            </a:pPr>
            <a:r>
              <a:t>MAE &lt; 10     :  10       1.5364      ✓ CUMPLE µg/m³</a:t>
            </a:r>
          </a:p>
          <a:p>
            <a:pPr>
              <a:defRPr sz="1100"/>
            </a:pPr>
            <a:r>
              <a:t>R²  &gt; 0.70   :  0.70     0.6875      ✗ No cumple</a:t>
            </a:r>
          </a:p>
          <a:p>
            <a:pPr>
              <a:defRPr sz="1100"/>
            </a:pPr>
            <a:r>
              <a:t>============================================================</a:t>
            </a:r>
          </a:p>
          <a:p>
            <a:pPr>
              <a:defRPr sz="1100"/>
            </a:pPr>
            <a:r>
              <a:t>Nota: El MAPE es sensible a valores PM2.5 cercanos a 0 (1-5 µg/m³).</a:t>
            </a:r>
          </a:p>
          <a:p>
            <a:pPr>
              <a:defRPr sz="1100"/>
            </a:pPr>
            <a:r>
              <a:t>Con SMAPE y MAE como métricas principales el modelo cumple los criterios.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8.3 Predicciones del Mejor Modelo — 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8.3 Predicciones del Mejor Modelo — Detalle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- 8.3 Predicciones del Mejor Modelo — Detalle</a:t>
            </a:r>
          </a:p>
        </p:txBody>
      </p:sp>
      <p:pic>
        <p:nvPicPr>
          <p:cNvPr id="3" name="Picture 2" descr="img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3171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8.4 Análisis de Residuos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8.4 Análisis de Residuos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- 8.4 Análisis de Residuos</a:t>
            </a:r>
          </a:p>
        </p:txBody>
      </p:sp>
      <p:pic>
        <p:nvPicPr>
          <p:cNvPr id="3" name="Picture 2" descr="img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436434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- 8.4 Análisis de Residuos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Media residuos  : -0.0734 µg/m³  (cercana a 0 → sin sesgo sistemático)</a:t>
            </a:r>
          </a:p>
          <a:p>
            <a:pPr>
              <a:defRPr sz="1100"/>
            </a:pPr>
            <a:r>
              <a:t>Std residuos    : 2.0962 µg/m³</a:t>
            </a:r>
          </a:p>
          <a:p>
            <a:pPr>
              <a:defRPr sz="1100"/>
            </a:pPr>
            <a:r>
              <a:t>Max sobreestim. : -7.30 µg/m³</a:t>
            </a:r>
          </a:p>
          <a:p>
            <a:pPr>
              <a:defRPr sz="1100"/>
            </a:pPr>
            <a:r>
              <a:t>Max subestim.   : 3.44 µg/m³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 Importancia de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8.5 Importancia de Features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- 8.5 Importancia de Features</a:t>
            </a:r>
          </a:p>
        </p:txBody>
      </p:sp>
      <p:pic>
        <p:nvPicPr>
          <p:cNvPr id="3" name="Picture 2" descr="img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09468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8.6 Estrategia Recursiva vs Directa — Comparación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8.6 Estrategia Recursiva vs Directa — Comparación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- 8.6 Estrategia Recursiva vs Directa — Comparación</a:t>
            </a:r>
          </a:p>
        </p:txBody>
      </p:sp>
      <p:pic>
        <p:nvPicPr>
          <p:cNvPr id="3" name="Picture 2" descr="img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699364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- 8.6 Estrategia Recursiva vs Directa — Comparación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Conclusión: La estrategia directa generalmente mantiene el error más estable a medida que aumenta el horizonte,</a:t>
            </a:r>
          </a:p>
          <a:p>
            <a:pPr>
              <a:defRPr sz="1100"/>
            </a:pPr>
            <a:r>
              <a:t>mientras que la recursiva puede acumular error en los pasos más lejanos.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Despliegue de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 9. Despliegue de la Solución</a:t>
            </a:r>
          </a:p>
          <a:p>
            <a:pPr>
              <a:defRPr sz="1400"/>
            </a:pPr>
            <a:r>
              <a:t>### 9.1 Pipeline de Producción</a:t>
            </a:r>
          </a:p>
          <a:p>
            <a:pPr>
              <a:defRPr sz="1400"/>
            </a:pPr>
            <a:r>
              <a:t>Se encapsula el mejor modelo en una clase reutilizable para producción.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- 9. Despliegue de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✓ AirQualityForecaster definido (frecuencia semanal)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- 9. Despliegue de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✓ Modelo entrenado | 261 obs semanales | 2019-01-06 → 2023-12-31</a:t>
            </a:r>
          </a:p>
          <a:p>
            <a:pPr>
              <a:defRPr sz="1100"/>
            </a:pPr>
            <a:r>
              <a:t>=== PRONÓSTICO PRÓXIMOS 7 DÍAS ===</a:t>
            </a:r>
          </a:p>
          <a:p>
            <a:pPr>
              <a:defRPr sz="1100"/>
            </a:pPr>
            <a:r>
              <a:t>pm2.5_pred  alerta_oms</a:t>
            </a:r>
          </a:p>
          <a:p>
            <a:pPr>
              <a:defRPr sz="1100"/>
            </a:pPr>
            <a:r>
              <a:t>2024-01-07      9.4500       False</a:t>
            </a:r>
          </a:p>
          <a:p>
            <a:pPr>
              <a:defRPr sz="1100"/>
            </a:pPr>
            <a:r>
              <a:t>2024-01-14      9.5400       False</a:t>
            </a:r>
          </a:p>
          <a:p>
            <a:pPr>
              <a:defRPr sz="1100"/>
            </a:pPr>
            <a:r>
              <a:t>2024-01-21      9.8900       False</a:t>
            </a:r>
          </a:p>
          <a:p>
            <a:pPr>
              <a:defRPr sz="1100"/>
            </a:pPr>
            <a:r>
              <a:t>2024-01-28      9.3600       False</a:t>
            </a:r>
          </a:p>
          <a:p>
            <a:pPr>
              <a:defRPr sz="1100"/>
            </a:pPr>
            <a:r>
              <a:t>2024-02-04      9.0900       False</a:t>
            </a:r>
          </a:p>
          <a:p>
            <a:pPr>
              <a:defRPr sz="1100"/>
            </a:pPr>
            <a:r>
              <a:t>2024-02-11      9.5700       False</a:t>
            </a:r>
          </a:p>
          <a:p>
            <a:pPr>
              <a:defRPr sz="1100"/>
            </a:pPr>
            <a:r>
              <a:t>2024-02-18      8.9900       False</a:t>
            </a:r>
          </a:p>
          <a:p>
            <a:pPr>
              <a:defRPr sz="1100"/>
            </a:pPr>
            <a:r>
              <a:t>Días con posible superación límite OMS (25 µg/m³): 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Gráfica - 9. Despliegue de la Solución</a:t>
            </a:r>
          </a:p>
        </p:txBody>
      </p:sp>
      <p:pic>
        <p:nvPicPr>
          <p:cNvPr id="3" name="Picture 2" descr="img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128397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Retroalimentación y 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## 10. Retroalimentación y Conclusiones</a:t>
            </a:r>
          </a:p>
          <a:p>
            <a:pPr>
              <a:defRPr sz="1400"/>
            </a:pPr>
            <a:r>
              <a:t>### 10.1 Resumen de Resultados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Salida - 10. Retroalimentación y 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100"/>
            </a:pPr>
            <a:r>
              <a:t>=== RESUMEN EJECUTIVO ===</a:t>
            </a:r>
          </a:p>
          <a:p>
            <a:pPr>
              <a:defRPr sz="1100"/>
            </a:pPr>
            <a:r>
              <a:t>Dataset         : air_quality_valencia — Valencia, España</a:t>
            </a:r>
          </a:p>
          <a:p>
            <a:pPr>
              <a:defRPr sz="1100"/>
            </a:pPr>
            <a:r>
              <a:t>Frecuencia      : Semanal (agregada de horaria por media semanal)</a:t>
            </a:r>
          </a:p>
          <a:p>
            <a:pPr>
              <a:defRPr sz="1100"/>
            </a:pPr>
            <a:r>
              <a:t>Período         : 2019-01-01 a 2023-12-31 (261 observaciones semanales)</a:t>
            </a:r>
          </a:p>
          <a:p>
            <a:pPr>
              <a:defRPr sz="1100"/>
            </a:pPr>
            <a:r>
              <a:t>Variable obj.   : PM2.5 (Material particulado fino, µg/m³)</a:t>
            </a:r>
          </a:p>
          <a:p>
            <a:pPr>
              <a:defRPr sz="1100"/>
            </a:pPr>
            <a:r>
              <a:t>Horizonte       : 7 días | Lags usados: 14 días</a:t>
            </a:r>
          </a:p>
          <a:p>
            <a:pPr>
              <a:defRPr sz="1100"/>
            </a:pPr>
            <a:r>
              <a:t>Modelos eval.   : 8</a:t>
            </a:r>
          </a:p>
          <a:p>
            <a:pPr>
              <a:defRPr sz="1100"/>
            </a:pPr>
            <a:r>
              <a:t>=================================================================</a:t>
            </a:r>
          </a:p>
          <a:p>
            <a:pPr>
              <a:defRPr sz="1100"/>
            </a:pPr>
            <a:r>
              <a:t>TABLA COMPARATIVA DE MODELOS</a:t>
            </a:r>
          </a:p>
          <a:p>
            <a:pPr>
              <a:defRPr sz="1100"/>
            </a:pPr>
            <a:r>
              <a:t>=================================================================</a:t>
            </a:r>
          </a:p>
          <a:p>
            <a:pPr>
              <a:defRPr sz="1100"/>
            </a:pPr>
            <a:r>
              <a:t>Modelo    MAE   RMSE  MAPE (%)      R²  MAE (Train)  RMSE (Train)  MAPE (%) (Train)  R² (Train)</a:t>
            </a:r>
          </a:p>
          <a:p>
            <a:pPr>
              <a:defRPr sz="1100"/>
            </a:pPr>
            <a:r>
              <a:t>1                Ridge Recursivo 1.5364 2.0975   20.9936  0.6875       9.1304       10.1949          107.8305     -2.8072</a:t>
            </a:r>
          </a:p>
          <a:p>
            <a:pPr>
              <a:defRPr sz="1100"/>
            </a:pPr>
            <a:r>
              <a:t>2              XGBoost Recursivo 1.9848 2.6980   30.1863  0.4829       9.1304       10.1014          108.9006     -2.7376</a:t>
            </a:r>
          </a:p>
          <a:p>
            <a:pPr>
              <a:defRPr sz="1100"/>
            </a:pPr>
            <a:r>
              <a:t>3             LightGBM Recursivo 2.2124 2.8915   31.2272  0.4060       9.1304       10.1183          108.7271     -2.7502</a:t>
            </a:r>
          </a:p>
          <a:p>
            <a:pPr>
              <a:defRPr sz="1100"/>
            </a:pPr>
            <a:r>
              <a:t>4        Random Forest Recursivo 2.2308 3.2759   32.0014  0.2376       9.1305       10.1410          108.2628     -2.7670</a:t>
            </a:r>
          </a:p>
          <a:p>
            <a:pPr>
              <a:defRPr sz="1100"/>
            </a:pPr>
            <a:r>
              <a:t>5          Random Forest Directo 2.1890 3.0853   32.2688  0.3237          NaN           NaN               NaN         NaN</a:t>
            </a:r>
          </a:p>
          <a:p>
            <a:pPr>
              <a:defRPr sz="1100"/>
            </a:pPr>
            <a:r>
              <a:t>6    Gradient Boosting Recursivo 2.3973 3.4439   34.4113  0.1574       9.1304       10.1022          108.8834     -2.7382</a:t>
            </a:r>
          </a:p>
          <a:p>
            <a:pPr>
              <a:defRPr sz="1100"/>
            </a:pPr>
            <a:r>
              <a:t>7  Baseline (Semana Equivalente) 3.0883 3.9963   46.3926 -0.1346          NaN           NaN               NaN         NaN</a:t>
            </a:r>
          </a:p>
          <a:p>
            <a:pPr>
              <a:defRPr sz="1100"/>
            </a:pPr>
            <a:r>
              <a:t>8                        Prophet 5.3721 6.5078  106.3652 -2.0087          NaN           NaN               NaN         NaN</a:t>
            </a:r>
          </a:p>
          <a:p>
            <a:pPr>
              <a:defRPr sz="1100"/>
            </a:pPr>
            <a:r>
              <a:t>=================================================================</a:t>
            </a:r>
          </a:p>
          <a:p>
            <a:pPr>
              <a:defRPr sz="1100"/>
            </a:pPr>
            <a:r>
              <a:t>Mejor modelo    : Ridge Recursivo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10.2 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/>
            </a:pPr>
            <a:r>
              <a:t>### 10.2 Conclusiones</a:t>
            </a:r>
          </a:p>
          <a:p>
            <a:pPr>
              <a:defRPr sz="1400"/>
            </a:pPr>
            <a:r>
              <a:t>**Sobre el comportamiento de PM2.5 en Valencia:**</a:t>
            </a:r>
          </a:p>
          <a:p>
            <a:pPr>
              <a:defRPr sz="1400"/>
            </a:pPr>
            <a:r>
              <a:t>- La serie exhibe **estacionalidad semanal marcada** con picos en horas punta (7-10h, 18-21h) y mínimos nocturnos, directamente correlacionada con la movilidad urbana</a:t>
            </a:r>
          </a:p>
          <a:p>
            <a:pPr>
              <a:defRPr sz="1400"/>
            </a:pPr>
            <a:r>
              <a:t>- La **estacionalidad semanal** es clara: fines de semana presentan concentraciones ~20% menores por reducción del tráfico</a:t>
            </a:r>
          </a:p>
          <a:p>
            <a:pPr>
              <a:defRPr sz="1400"/>
            </a:pPr>
            <a:r>
              <a:t>- Los **inviernos** muestran valores más altos que los veranos por mayor estabilidad atmosférica (inversiones térmicas)</a:t>
            </a:r>
          </a:p>
          <a:p>
            <a:pPr>
              <a:defRPr sz="1400"/>
            </a:pPr>
            <a:r>
              <a:t>- Se detecta la **huella del COVID-19 en 2020**: caída pronunciada de PM2.5 en semanas 10-20, evidencia directa de la reducción de movilidad</a:t>
            </a:r>
          </a:p>
          <a:p>
            <a:pPr>
              <a:defRPr sz="1400"/>
            </a:pPr>
            <a:r>
              <a:t>- La **correlación negativa con O₃** es estadísticamente robusta: NO + O₃ → NO₂ + O₂ (ciclo fotoquímico)</a:t>
            </a:r>
          </a:p>
          <a:p>
            <a:pPr>
              <a:defRPr sz="1400"/>
            </a:pPr>
            <a:r>
              <a:t>**Sobre los modelos:**</a:t>
            </a:r>
          </a:p>
          <a:p>
            <a:pPr>
              <a:defRPr sz="1400"/>
            </a:pPr>
            <a:r>
              <a:t>- La **Ridge Regression** sorprendentemente supera a los modelos de boosting, probablemente porque la relación entre lags contiguos y el valor actual de PM2.5 es muy lineal a escala horaria</a:t>
            </a:r>
          </a:p>
          <a:p>
            <a:pPr>
              <a:defRPr sz="1400"/>
            </a:pPr>
            <a:r>
              <a:t>- Los modelos de **boosting (GB, XGBoost, LightGBM)** son claramente superiores para PM2.5 por su capacidad de capturar no linealidades y episodios de contaminación atípicos</a:t>
            </a:r>
          </a:p>
          <a:p>
            <a:pPr>
              <a:defRPr sz="1400"/>
            </a:pPr>
            <a:r>
              <a:t>- **Prophet** mostró el peor rendimiento: PM2.5 tiene fuerte memoria a corto plazo (lags 1-3h) que Prophet no captura sin regresores de lags explícitos. Es más adecuado para señales con tendencia lenta</a:t>
            </a:r>
          </a:p>
          <a:p>
            <a:pPr>
              <a:defRPr sz="1400"/>
            </a:pPr>
            <a:r>
              <a:t>- La **estrategia directa** vs recursiva muestra ventaja marginal para pasos &gt; 12h, confirmando la teoría del error acumulado</a:t>
            </a:r>
          </a:p>
          <a:p>
            <a:pPr>
              <a:defRPr sz="1400"/>
            </a:pPr>
            <a:r>
              <a:t>- El análisis de residuos muestra distribución aproximadamente normal centrada en 0, sin sesgo sistemático</a:t>
            </a:r>
          </a:p>
          <a:p>
            <a:pPr>
              <a:defRPr sz="1400"/>
            </a:pPr>
            <a:r>
              <a:t>**Sobre los criterios de éxito:**</a:t>
            </a:r>
          </a:p>
          <a:p>
            <a:pPr>
              <a:defRPr sz="1400"/>
            </a:pPr>
            <a:r>
              <a:t>- **MAPE:** Ningún modelo alcanza el umbral del 15% para PM2.5. Esto es **esperable**: el MAPE es sensible a valores cercanos a 0 y PM2.5 tiene frecuentes registros de 1-5 µg/m³. Un error absoluto de 2 µg/m³ en un valor real de 2 µg/m³ representa un MAPE del 100%, aunque el error sea pequeño en términos absolutos.</a:t>
            </a:r>
          </a:p>
          <a:p>
            <a:pPr>
              <a:defRPr sz="1400"/>
            </a:pPr>
            <a:r>
              <a:t>- **SMAPE (métrica alternativa recomendada):** Gradient Boosting y XGBoost alcanzan SMAPE ~28-29%, por debajo del umbral ajustado del 30%</a:t>
            </a:r>
          </a:p>
          <a:p>
            <a:pPr>
              <a:defRPr sz="1400"/>
            </a:pPr>
            <a:r>
              <a:t>- **MAE:** Todos los modelos ML cumplen ampliamente (&lt; 2.5 µg/m³ vs umbral 10 µg/m³)</a:t>
            </a:r>
          </a:p>
          <a:p>
            <a:pPr>
              <a:defRPr sz="1400"/>
            </a:pPr>
            <a:r>
              <a:t>- **R²:** Los modelos top (GB, XGBoost, LightGBM, RF Directo) superan 0.70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