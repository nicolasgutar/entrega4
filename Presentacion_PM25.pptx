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Pronóstico de Calidad del Aire (PM2.5)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Modelado de Series de Tiempo a Nivel Semanal</a:t>
            </a:r>
          </a:p>
          <a:p>
            <a:r>
              <a:t>Presentación de Resultados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y Metodología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Objetivo: Predecir los niveles de PM2.5 para detectar posibles alertas sanitarias (límite OMS 25 µg/m³).</a:t>
            </a:r>
          </a:p>
          <a:p>
            <a:r>
              <a:t>Problema original: Los datos diarios presentaban una alta varianza y ruido.</a:t>
            </a:r>
          </a:p>
          <a:p>
            <a:r>
              <a:t>Solución implementada: Remuestreo a nivel SEMANAL para estabilizar la serie y facilitar la captura de tendencias macro.</a:t>
            </a:r>
          </a:p>
          <a:p>
            <a:r>
              <a:t>Pipeline: Imputación de nulos -&gt; Remuestreo Semanal -&gt; EDA -&gt; Ingeniería de Features -&gt; Modelado y Backtesting.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Efecto del Remuestreo Semanal</a:t>
            </a:r>
          </a:p>
        </p:txBody>
      </p:sp>
      <p:pic>
        <p:nvPicPr>
          <p:cNvPr id="3" name="Picture 2" descr="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2452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• El remuestreo (resample('W')) redujo drásticamente el ruido de alta frecuencia.</a:t>
            </a:r>
          </a:p>
          <a:p>
            <a:pPr>
              <a:defRPr sz="1400"/>
            </a:pPr>
            <a:r>
              <a:t>• La serie temporal ahora refleja de forma más clara los patrones estacionales.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de Autocorrelación (ACF/PACF)</a:t>
            </a:r>
          </a:p>
        </p:txBody>
      </p:sp>
      <p:pic>
        <p:nvPicPr>
          <p:cNvPr id="3" name="Picture 2" descr="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3106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• ACF: Muestra la persistencia de los contaminantes en semanas consecutivas.</a:t>
            </a:r>
          </a:p>
          <a:p>
            <a:pPr>
              <a:defRPr sz="1400"/>
            </a:pPr>
            <a:r>
              <a:t>• PACF: Ayuda a definir la cantidad óptima de lags (rezagos) para los modelos autorregresivos.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Estrategia de Entrenamiento y Prueba</a:t>
            </a:r>
          </a:p>
        </p:txBody>
      </p:sp>
      <p:pic>
        <p:nvPicPr>
          <p:cNvPr id="3" name="Picture 2" descr="im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2452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• Los datos se dividen cronológicamente para evitar data leakage.</a:t>
            </a:r>
          </a:p>
          <a:p>
            <a:pPr>
              <a:defRPr sz="1400"/>
            </a:pPr>
            <a:r>
              <a:t>• Set de Entrenamiento (Train): Datos históricos para ajustar los modelos.</a:t>
            </a:r>
          </a:p>
          <a:p>
            <a:pPr>
              <a:defRPr sz="1400"/>
            </a:pPr>
            <a:r>
              <a:t>• Set de Prueba (Test): Datos recientes no vistos para validación temporal continua.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Modelado con skforecast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Modelos implementados: Ridge Regression, Random Forest, Gradient Boosting, XGBoost y LightGBM.</a:t>
            </a:r>
          </a:p>
          <a:p>
            <a:r>
              <a:t>Enfoque Recursivo (ForecasterRecursive): Pronostica paso a paso, retroalimentando la propia predicción.</a:t>
            </a:r>
          </a:p>
          <a:p>
            <a:r>
              <a:t>Nuevos features: Lags de semanas anteriores y variables exógenas (mes, semana del año).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Predicciones: Ridge Regression</a:t>
            </a:r>
          </a:p>
        </p:txBody>
      </p:sp>
      <p:pic>
        <p:nvPicPr>
          <p:cNvPr id="3" name="Picture 2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2452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• Se comparan las predicciones Intramuestrales (Train) vs Extramuestrales (Test).</a:t>
            </a:r>
          </a:p>
          <a:p>
            <a:pPr>
              <a:defRPr sz="1400"/>
            </a:pPr>
            <a:r>
              <a:t>• Permite identificar si el modelo generaliza bien o si está sufriendo de overfitting.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Predicciones: Random Forest</a:t>
            </a:r>
          </a:p>
        </p:txBody>
      </p:sp>
      <p:pic>
        <p:nvPicPr>
          <p:cNvPr id="3" name="Picture 2" descr="img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8936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• Random Forest captura relaciones no lineales, pero es propenso a sobreajustarse en series de tiempo sin regularización.</a:t>
            </a:r>
          </a:p>
          <a:p>
            <a:pPr>
              <a:defRPr sz="1400"/>
            </a:pPr>
            <a:r>
              <a:t>• Las métricas intramuestrales nos confirman cuánto aprendió de memoria vs cuánto logró generalizar.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Comparativa Final de Modelos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Ridge Regression suele ser el más robusto al no sobreajustarse a las variaciones bruscas.</a:t>
            </a:r>
          </a:p>
          <a:p>
            <a:r>
              <a:t>Gradient Boosting / LightGBM tienen mejor capacidad de capturar picos extremos.</a:t>
            </a:r>
          </a:p>
          <a:p>
            <a:r>
              <a:t>La métrica principal de decisión es el MAPE (%) evaluado estrictamente en Test mediante Backtesting.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Pronóstico a 7 Semanas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El mejor modelo se reentrena con TODO el dataset.</a:t>
            </a:r>
          </a:p>
          <a:p>
            <a:r>
              <a:t>Se genera la predicción para las próximas 7 semanas.</a:t>
            </a:r>
          </a:p>
          <a:p>
            <a:r>
              <a:t>Se integran alertas si la predicción supera los umbrales recomendados por la OMS (25 µg/m³).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